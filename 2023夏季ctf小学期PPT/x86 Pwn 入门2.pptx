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3" roundtripDataSignature="AMtx7mjsh15Myk98yNtPFTfKMRFZPUSJ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4"/>
  </p:normalViewPr>
  <p:slideViewPr>
    <p:cSldViewPr snapToGrid="0" snapToObjects="1">
      <p:cViewPr varScale="1">
        <p:scale>
          <a:sx n="108" d="100"/>
          <a:sy n="108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customschemas.google.com/relationships/presentationmetadata" Target="meta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hyperlink" Target="https://cs.brown.edu/courses/cs033/docs/guides/x64_cheatsheet.pdf" TargetMode="Externa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hyperlink" Target="https://cs.brown.edu/courses/cs033/docs/guides/x64_cheatsheet.pdf" TargetMode="Externa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hyperlink" Target="https://eli.thegreenplace.net/2011/09/06/stack-frame-layout-on-x86-64" TargetMode="Externa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hyperlink" Target="https://eli.thegreenplace.net/2011/09/06/stack-frame-layout-on-x86-64" TargetMode="Externa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Relationship Id="rId3" Type="http://schemas.openxmlformats.org/officeDocument/2006/relationships/hyperlink" Target="https://eli.thegreenplace.net/2011/09/06/stack-frame-layout-on-x86-64" TargetMode="Externa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6bd2d310e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6bd2d310e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ec8ad10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0ec8ad10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9808c6fff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09808c6fff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982fffd2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0982fffd2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9808c6fff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09808c6fff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982fffd2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0982fffd23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x64 cheatsheet：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https://cs.brown.edu/courses/cs033/docs/guides/x64_cheatsheet.pdf</a:t>
            </a:r>
            <a:r>
              <a:rPr lang="zh-CN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这里最好解释一下指令集是什么，寄存器是什么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9808c6fff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09808c6fff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x64 cheatsheet：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https://cs.brown.edu/courses/cs033/docs/guides/x64_cheatsheet.pdf</a:t>
            </a:r>
            <a:r>
              <a:rPr lang="zh-C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0982fffd2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0982fffd2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982fffd23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0982fffd23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0982fffd2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0982fffd2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>
                <a:solidFill>
                  <a:schemeClr val="dk1"/>
                </a:solidFill>
              </a:rPr>
              <a:t>图源：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https://eli.thegreenplace.net/2011/09/06/stack-frame-layout-on-x86-64</a:t>
            </a:r>
            <a:r>
              <a:rPr lang="zh-C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982fffd2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0982fffd2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现场演示 + 带大家实操一遍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IDA、gdb、pwntools 的使用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0ec8ad10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0ec8ad10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0ec8ad101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0ec8ad101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0ec8ad101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20ec8ad101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这一页可以略讲，下发留给大家作为参考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982fffd2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20982fffd2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56bd2d310e_3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56bd2d310e_3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6bd2d310e_3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256bd2d310e_3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6bd2d310e_3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56bd2d310e_3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6bd2d310e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256bd2d310e_3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6bd2d310e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56bd2d310e_3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6bd2d310e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6bd2d310e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6bd2d310e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56bd2d310e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6bd2d310e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6bd2d310e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56bd2d310e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256bd2d310e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6bd2d310e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6bd2d310e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6bd2d310e_3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256bd2d310e_3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6bd2d310e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256bd2d310e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56bd2d310e_3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256bd2d310e_3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6bd2d310e_3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56bd2d310e_3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讲到 gadget，顺势引入 ROP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6bd2d310e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g256bd2d310e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626a214c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2626a214cf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56bd2d310e_3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256bd2d310e_3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08d29395d07b57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g208d29395d07b57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626a214c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22626a214cf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2626a214c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g22626a214c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2626a214c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22626a214c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63d27fa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2263d27fa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56bd2d310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56bd2d310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08d29395d07b577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208d29395d07b577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08d29395d07b577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208d29395d07b577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08d29395d07b577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208d29395d07b577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08d29395d07b57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208d29395d07b577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6951513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g256951513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6951513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256951513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6ac1cde2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256ac1cde2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56bd2d310e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56bd2d310e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56ac1cde2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g256ac1cde2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6ac1cde2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g256ac1cde2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56ac1cde2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g256ac1cde2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56ac1cde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g256ac1cde2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2ebb60e22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22ebb60e22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56ac1cde2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256ac1cde2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263d27fac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2263d27fac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2ebb60e22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22ebb60e22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3" name="Google Shape;4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4000"/>
              <a:buNone/>
              <a:defRPr sz="4000" b="1">
                <a:solidFill>
                  <a:srgbClr val="1155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nathanSalwan/ROPgadget" TargetMode="External"/><Relationship Id="rId4" Type="http://schemas.openxmlformats.org/officeDocument/2006/relationships/hyperlink" Target="https://github.com/sashs/Ropper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eanu/LibcSearcher" TargetMode="External"/><Relationship Id="rId4" Type="http://schemas.openxmlformats.org/officeDocument/2006/relationships/hyperlink" Target="https://libc.rip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david942j/one_gadget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ctf-wik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CN"/>
              <a:t>x86 Pwn 入门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4267200"/>
            <a:ext cx="9144000" cy="167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CN"/>
              <a:t>Redbud：杨雅儒、高泽豫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CN"/>
              <a:t>2023.07.03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6bd2d310e_1_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基础</a:t>
            </a:r>
            <a:endParaRPr/>
          </a:p>
        </p:txBody>
      </p:sp>
      <p:sp>
        <p:nvSpPr>
          <p:cNvPr id="91" name="Google Shape;91;g256bd2d310e_1_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Pwn?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zh-CN"/>
              <a:t>黑客词汇，由 Own 演变而来，指</a:t>
            </a:r>
            <a:r>
              <a:rPr lang="zh-CN" b="1">
                <a:solidFill>
                  <a:srgbClr val="FF0000"/>
                </a:solidFill>
              </a:rPr>
              <a:t>攻破、控制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653550" y="3318425"/>
            <a:ext cx="67338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zh-C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 CTF 中，通常考察利用</a:t>
            </a:r>
            <a:r>
              <a:rPr lang="zh-CN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二进制程序</a:t>
            </a:r>
            <a:r>
              <a:rPr lang="zh-C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lang="zh-CN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内存破坏漏洞</a:t>
            </a:r>
            <a:r>
              <a:rPr lang="zh-CN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完成攻击</a:t>
            </a: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ec8ad1011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b="1">
                <a:solidFill>
                  <a:srgbClr val="38761D"/>
                </a:solidFill>
              </a:rPr>
              <a:t>内存</a:t>
            </a:r>
            <a:r>
              <a:rPr lang="zh-CN" b="1">
                <a:solidFill>
                  <a:srgbClr val="B45F06"/>
                </a:solidFill>
              </a:rPr>
              <a:t>破坏</a:t>
            </a:r>
            <a:r>
              <a:rPr lang="zh-CN" b="1">
                <a:solidFill>
                  <a:srgbClr val="980000"/>
                </a:solidFill>
              </a:rPr>
              <a:t>漏洞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104" name="Google Shape;104;g20ec8ad1011_0_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本质：攻击者向</a:t>
            </a:r>
            <a:r>
              <a:rPr lang="zh-CN" sz="2400" b="1">
                <a:solidFill>
                  <a:srgbClr val="980000"/>
                </a:solidFill>
              </a:rPr>
              <a:t>本不应属于自己的</a:t>
            </a:r>
            <a:r>
              <a:rPr lang="zh-CN" sz="2400" b="1">
                <a:solidFill>
                  <a:srgbClr val="38761D"/>
                </a:solidFill>
              </a:rPr>
              <a:t>内存</a:t>
            </a:r>
            <a:r>
              <a:rPr lang="zh-CN" sz="2400" b="1">
                <a:solidFill>
                  <a:srgbClr val="B45F06"/>
                </a:solidFill>
              </a:rPr>
              <a:t>写入精心构造的恶意内容</a:t>
            </a:r>
            <a:endParaRPr sz="2400" b="1">
              <a:solidFill>
                <a:srgbClr val="B45F06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后果：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控制流劫持 → getshell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虚拟机/沙盒逃逸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信息泄露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DoS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CN"/>
              <a:t>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提纲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简述：CPU 组成、ISA 指令集架构、汇编语言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Linux 内存结构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操作实践1：自行编译 hello world，并用 IDA 观察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CTF 常见 pwn 漏洞，细讲栈溢出等入门漏洞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操作实践2：自行编译带栈溢出漏洞的程序，用 IDA 观察后，试图攻击（包括 gdb、python+pwntools 的使用）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栈溢出的各种技巧，ROP 等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BUUOJ 练习题（若有时间，没时间则留至课后）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09808c6fff_2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计算机编程语言</a:t>
            </a:r>
            <a:endParaRPr/>
          </a:p>
        </p:txBody>
      </p:sp>
      <p:sp>
        <p:nvSpPr>
          <p:cNvPr id="116" name="Google Shape;116;g209808c6fff_2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 b="1">
                <a:solidFill>
                  <a:srgbClr val="0B5394"/>
                </a:solidFill>
              </a:rPr>
              <a:t>高级语言</a:t>
            </a:r>
            <a:r>
              <a:rPr lang="zh-CN" sz="2400">
                <a:solidFill>
                  <a:srgbClr val="000000"/>
                </a:solidFill>
              </a:rPr>
              <a:t>需要</a:t>
            </a:r>
            <a:r>
              <a:rPr lang="zh-CN" sz="2400"/>
              <a:t>编译得到机器码（也称</a:t>
            </a:r>
            <a:r>
              <a:rPr lang="zh-CN" sz="2400" b="1">
                <a:solidFill>
                  <a:srgbClr val="0B5394"/>
                </a:solidFill>
              </a:rPr>
              <a:t>机器语言</a:t>
            </a:r>
            <a:r>
              <a:rPr lang="zh-CN" sz="2400"/>
              <a:t>），才能被计算机执行</a:t>
            </a: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clang -O2 main.c -o main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000000"/>
              </a:solidFill>
            </a:endParaRPr>
          </a:p>
        </p:txBody>
      </p:sp>
      <p:pic>
        <p:nvPicPr>
          <p:cNvPr id="117" name="Google Shape;117;g209808c6fff_2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1400" y="2927625"/>
            <a:ext cx="3678175" cy="23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09808c6fff_2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6425" y="2382875"/>
            <a:ext cx="1911650" cy="37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09808c6fff_2_14"/>
          <p:cNvSpPr/>
          <p:nvPr/>
        </p:nvSpPr>
        <p:spPr>
          <a:xfrm>
            <a:off x="5529200" y="3995138"/>
            <a:ext cx="1307100" cy="49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982fffd23_0_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计算机编程语言</a:t>
            </a:r>
            <a:endParaRPr/>
          </a:p>
        </p:txBody>
      </p:sp>
      <p:sp>
        <p:nvSpPr>
          <p:cNvPr id="125" name="Google Shape;125;g20982fffd23_0_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如何知道编译成了什么？一一对应的</a:t>
            </a:r>
            <a:r>
              <a:rPr lang="zh-CN" sz="2400" b="1">
                <a:solidFill>
                  <a:srgbClr val="0B5394"/>
                </a:solidFill>
              </a:rPr>
              <a:t>汇编语言</a:t>
            </a: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objdump -d main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000000"/>
              </a:solidFill>
            </a:endParaRPr>
          </a:p>
        </p:txBody>
      </p:sp>
      <p:pic>
        <p:nvPicPr>
          <p:cNvPr id="126" name="Google Shape;126;g20982fffd23_0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8400" y="3134750"/>
            <a:ext cx="5988776" cy="30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0982fffd23_0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0450" y="3480625"/>
            <a:ext cx="3139650" cy="20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9808c6fff_2_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最先有的是机器语言（二进制）</a:t>
            </a: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</a:t>
            </a:r>
            <a:r>
              <a:rPr lang="zh-CN" sz="2200"/>
              <a:t>机器可以直接执行，对人不友好，不可读</a:t>
            </a:r>
            <a:endParaRPr sz="22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汇编作为一一对应的助记符（ASM）</a:t>
            </a:r>
            <a:endParaRPr sz="24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</a:t>
            </a:r>
            <a:r>
              <a:rPr lang="zh-CN" sz="2200"/>
              <a:t>可读，但繁琐</a:t>
            </a:r>
            <a:endParaRPr sz="2200"/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高级语言（C、C++、Rust）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	  </a:t>
            </a:r>
            <a:r>
              <a:rPr lang="zh-CN" sz="2200"/>
              <a:t>提供更高的抽象</a:t>
            </a: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000000"/>
              </a:solidFill>
            </a:endParaRPr>
          </a:p>
        </p:txBody>
      </p:sp>
      <p:sp>
        <p:nvSpPr>
          <p:cNvPr id="133" name="Google Shape;133;g209808c6fff_2_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历史的进程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0982fffd23_0_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x86-64</a:t>
            </a:r>
            <a:endParaRPr/>
          </a:p>
        </p:txBody>
      </p:sp>
      <p:sp>
        <p:nvSpPr>
          <p:cNvPr id="139" name="Google Shape;139;g20982fffd23_0_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最广泛的指令集</a:t>
            </a:r>
            <a:endParaRPr sz="2400"/>
          </a:p>
          <a:p>
            <a:pPr marL="914400" lvl="1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不定长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多个寄存器</a:t>
            </a:r>
            <a:endParaRPr sz="2400"/>
          </a:p>
        </p:txBody>
      </p:sp>
      <p:pic>
        <p:nvPicPr>
          <p:cNvPr id="140" name="Google Shape;140;g20982fffd23_0_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5275" y="2593300"/>
            <a:ext cx="5988776" cy="30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9808c6fff_2_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x86-64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通用寄存器</a:t>
            </a:r>
            <a:endParaRPr sz="2400"/>
          </a:p>
        </p:txBody>
      </p:sp>
      <p:pic>
        <p:nvPicPr>
          <p:cNvPr id="146" name="Google Shape;146;g209808c6fff_2_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9775" y="1753350"/>
            <a:ext cx="516255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09808c6fff_2_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442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16 个通用寄存器，每个 64 位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rsp、rbp与栈有关</a:t>
            </a:r>
            <a:endParaRPr sz="240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函数调用约定</a:t>
            </a:r>
            <a:endParaRPr sz="2400"/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rdi、rsi、rdx、rcx、r8、r9 依次存储函数前 6 个参数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rax 存储函数返回值</a:t>
            </a:r>
            <a:endParaRPr/>
          </a:p>
          <a:p>
            <a:pPr marL="91440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大于6个的参数保存在栈上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982fffd23_0_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栈 (stack)</a:t>
            </a:r>
            <a:endParaRPr/>
          </a:p>
        </p:txBody>
      </p:sp>
      <p:sp>
        <p:nvSpPr>
          <p:cNvPr id="153" name="Google Shape;153;g20982fffd23_0_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函数调用时，存储当前函数的相关信息</a:t>
            </a:r>
            <a:endParaRPr sz="2400"/>
          </a:p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从高地址往低地址“增长”</a:t>
            </a:r>
            <a:endParaRPr sz="2400"/>
          </a:p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每一层函数调用对应一块连续内存区域，称为</a:t>
            </a:r>
            <a:r>
              <a:rPr lang="zh-CN" sz="2400" b="1">
                <a:solidFill>
                  <a:srgbClr val="0B5394"/>
                </a:solidFill>
              </a:rPr>
              <a:t>栈帧</a:t>
            </a:r>
            <a:endParaRPr sz="2400">
              <a:solidFill>
                <a:srgbClr val="000000"/>
              </a:solidFill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sz="2300"/>
              <a:t>右图当前栈帧：rbp+24 ~ rsp</a:t>
            </a:r>
            <a:endParaRPr sz="2400" b="1">
              <a:solidFill>
                <a:srgbClr val="0B5394"/>
              </a:solidFill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栈上依次存储（从高地址往低地址）：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     </a:t>
            </a:r>
            <a:r>
              <a:rPr lang="zh-CN" sz="2400" b="1">
                <a:solidFill>
                  <a:srgbClr val="FF0000"/>
                </a:solidFill>
              </a:rPr>
              <a:t> 函数参数、返回地址、上一层的 rbp、临时变量</a:t>
            </a:r>
            <a:r>
              <a:rPr lang="zh-CN" sz="2400"/>
              <a:t>（包括其他需要保存的寄存器）</a:t>
            </a:r>
            <a:endParaRPr sz="2400" b="1">
              <a:solidFill>
                <a:srgbClr val="0B5394"/>
              </a:solidFill>
            </a:endParaRPr>
          </a:p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 rsp 指向栈顶，rbp 指向保存的上一层 rbp</a:t>
            </a:r>
            <a:endParaRPr sz="2400" b="1">
              <a:solidFill>
                <a:srgbClr val="0B5394"/>
              </a:solidFill>
            </a:endParaRPr>
          </a:p>
        </p:txBody>
      </p:sp>
      <p:pic>
        <p:nvPicPr>
          <p:cNvPr id="154" name="Google Shape;154;g20982fffd23_0_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4859" y="1642875"/>
            <a:ext cx="3434566" cy="43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982fffd23_0_1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例子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函数调用</a:t>
            </a:r>
            <a:endParaRPr sz="2400"/>
          </a:p>
        </p:txBody>
      </p:sp>
      <p:pic>
        <p:nvPicPr>
          <p:cNvPr id="160" name="Google Shape;160;g20982fffd23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1100" y="3702700"/>
            <a:ext cx="7089475" cy="24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20982fffd23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384" y="1892450"/>
            <a:ext cx="3434566" cy="4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0982fffd23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8050" y="1782688"/>
            <a:ext cx="2715250" cy="6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0982fffd23_0_120"/>
          <p:cNvSpPr/>
          <p:nvPr/>
        </p:nvSpPr>
        <p:spPr>
          <a:xfrm>
            <a:off x="7866225" y="2692325"/>
            <a:ext cx="439200" cy="791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982fffd23_0_1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栈溢出</a:t>
            </a:r>
            <a:endParaRPr/>
          </a:p>
        </p:txBody>
      </p:sp>
      <p:pic>
        <p:nvPicPr>
          <p:cNvPr id="169" name="Google Shape;169;g20982fffd23_0_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5359" y="1922375"/>
            <a:ext cx="3434566" cy="43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0982fffd23_0_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9963" y="2958188"/>
            <a:ext cx="2378225" cy="9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20982fffd23_0_1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如果读/写到栈上数组以外的内存会有什么后果？ </a:t>
            </a:r>
            <a:endParaRPr sz="2400" b="1">
              <a:solidFill>
                <a:srgbClr val="0B5394"/>
              </a:solidFill>
            </a:endParaRPr>
          </a:p>
        </p:txBody>
      </p:sp>
      <p:sp>
        <p:nvSpPr>
          <p:cNvPr id="172" name="Google Shape;172;g20982fffd23_0_130"/>
          <p:cNvSpPr txBox="1">
            <a:spLocks noGrp="1"/>
          </p:cNvSpPr>
          <p:nvPr>
            <p:ph type="body" idx="1"/>
          </p:nvPr>
        </p:nvSpPr>
        <p:spPr>
          <a:xfrm>
            <a:off x="838200" y="4162600"/>
            <a:ext cx="765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返回地址可被修改，完成</a:t>
            </a:r>
            <a:r>
              <a:rPr lang="zh-CN" sz="2400" b="1">
                <a:solidFill>
                  <a:srgbClr val="FF0000"/>
                </a:solidFill>
              </a:rPr>
              <a:t>控制流劫持！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982fffd23_0_1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实操 —— 自己写 bug 自己打</a:t>
            </a:r>
            <a:endParaRPr/>
          </a:p>
        </p:txBody>
      </p:sp>
      <p:pic>
        <p:nvPicPr>
          <p:cNvPr id="178" name="Google Shape;178;g20982fffd23_0_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175" y="1690825"/>
            <a:ext cx="33337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0982fffd23_0_154"/>
          <p:cNvSpPr txBox="1">
            <a:spLocks noGrp="1"/>
          </p:cNvSpPr>
          <p:nvPr>
            <p:ph type="body" idx="1"/>
          </p:nvPr>
        </p:nvSpPr>
        <p:spPr>
          <a:xfrm>
            <a:off x="4528300" y="1800400"/>
            <a:ext cx="72288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200"/>
              <a:t>gcc example1.c -o example1 -fno-stack-protector -no-pie</a:t>
            </a:r>
            <a:endParaRPr sz="2200" b="1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ec8ad1011_0_0"/>
          <p:cNvSpPr txBox="1">
            <a:spLocks noGrp="1"/>
          </p:cNvSpPr>
          <p:nvPr>
            <p:ph type="title"/>
          </p:nvPr>
        </p:nvSpPr>
        <p:spPr>
          <a:xfrm>
            <a:off x="838200" y="2264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IDA 基础使用</a:t>
            </a:r>
            <a:endParaRPr sz="2400"/>
          </a:p>
        </p:txBody>
      </p:sp>
      <p:sp>
        <p:nvSpPr>
          <p:cNvPr id="185" name="Google Shape;185;g20ec8ad1011_0_0"/>
          <p:cNvSpPr txBox="1">
            <a:spLocks noGrp="1"/>
          </p:cNvSpPr>
          <p:nvPr>
            <p:ph type="body" idx="1"/>
          </p:nvPr>
        </p:nvSpPr>
        <p:spPr>
          <a:xfrm>
            <a:off x="838200" y="1480025"/>
            <a:ext cx="10515600" cy="5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IDA 是一个逆向工具，可以很方便地对二进制程序进行逆向分析。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g：跳转到指定地址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F5：反编译生成伪代码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Tab 和空格：两个切换视图的快捷键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ESC：跳转到前一个位置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Ctrl+Enter：跳转到后一个位置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在伪代码视图下：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/：添加注释 （“;” 汇编视图添加注释）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n：更改变量名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y：更改变量声明类型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h：以16/10进制表示当前数字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r：以字符表示当前数字（根据 ASCII 转换）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x：查看交叉引用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建议：多点击看看 IDA 的菜单栏，里面标注了很多快捷键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ec8ad1011_0_10"/>
          <p:cNvSpPr txBox="1">
            <a:spLocks noGrp="1"/>
          </p:cNvSpPr>
          <p:nvPr>
            <p:ph type="title"/>
          </p:nvPr>
        </p:nvSpPr>
        <p:spPr>
          <a:xfrm>
            <a:off x="838200" y="3021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pwntools 基础使用</a:t>
            </a:r>
            <a:endParaRPr sz="2400"/>
          </a:p>
        </p:txBody>
      </p:sp>
      <p:sp>
        <p:nvSpPr>
          <p:cNvPr id="191" name="Google Shape;191;g20ec8ad1011_0_10"/>
          <p:cNvSpPr txBox="1">
            <a:spLocks noGrp="1"/>
          </p:cNvSpPr>
          <p:nvPr>
            <p:ph type="body" idx="1"/>
          </p:nvPr>
        </p:nvSpPr>
        <p:spPr>
          <a:xfrm>
            <a:off x="838200" y="1568275"/>
            <a:ext cx="10515600" cy="50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pwntools 是一个辅助 pwn 攻击的 python 库。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使用库：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from pwn import *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三种常用方式：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process('./xxx')：运行本地程序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remote("127.0.0.1", 32152)：连接远程端口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p = gdb.debug('./xxx', gdb_script_str)：运行本地程序并使用 gdb 调试</a:t>
            </a:r>
            <a:endParaRPr sz="19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发送/接收数据：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发送：p.send(data)，同理还有 sendline、sendlineafter 等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接收：r = p.recv(1024)，同理还有 recvuntil、recvall、recvline 等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切换为交互模式：p.interactive()，</a:t>
            </a:r>
            <a:r>
              <a:rPr lang="zh-CN" sz="1900" b="1">
                <a:solidFill>
                  <a:srgbClr val="FF0000"/>
                </a:solidFill>
              </a:rPr>
              <a:t>一般来说最后都需要加上这行</a:t>
            </a:r>
            <a:endParaRPr sz="1900"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/>
              <a:t>数与其内存表示的转换：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 = p64(num)：将 num 视为 64 位数转为字节串（自动处理端序），p8/p16/p32 同理</a:t>
            </a:r>
            <a:endParaRPr sz="190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/>
              <a:t>r = u64(b'xxx')：可视为 p64 的逆，将字节串转为 64 位的数（自动处理端序），u8/u16/u32 同理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ec8ad1011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工具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gdb+pwndbg 基础使用</a:t>
            </a:r>
            <a:endParaRPr sz="2400"/>
          </a:p>
        </p:txBody>
      </p:sp>
      <p:sp>
        <p:nvSpPr>
          <p:cNvPr id="197" name="Google Shape;197;g20ec8ad1011_0_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8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 dirty="0"/>
              <a:t>gdb 是一个调试二进制程序的工具，pwndbg 是 gdb 的插件。</a:t>
            </a: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 dirty="0"/>
              <a:t>执行流相关：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b(reak) *0xabc：下断点，也可以用函数名，例如 b *main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r(un)：从头运行程序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s(tep)：单步步入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n(ext)：单步步过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c(ontinue)：继续执行</a:t>
            </a: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 dirty="0"/>
              <a:t>信息打印相关：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p(rint) &lt;expr&gt;：对一个表达式进行计算并显示，例如 p $rdi+3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i(nfo)：用于显示各类信息，例如 i b(reakpoints)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x/10xg &lt;addr&gt;：打印某地址开始的内存，/ 后面跟格式，具体请参考文档</a:t>
            </a:r>
            <a:endParaRPr sz="19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1900" dirty="0"/>
              <a:t>pwndbg：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tele &lt;addr&gt;：用非常直观且美观的形式打印内存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piebase：显示 PIE 的偏移值</a:t>
            </a:r>
            <a:endParaRPr sz="1900" dirty="0"/>
          </a:p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CN" sz="1900" dirty="0"/>
              <a:t>b *$rebase(0x412)：在 PIE 偏移后的地址处下断点，rebase 也可用在其他指令中</a:t>
            </a:r>
            <a:endParaRPr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0982fffd23_0_1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实操 —— 自己写 bug 自己打</a:t>
            </a:r>
            <a:endParaRPr/>
          </a:p>
        </p:txBody>
      </p:sp>
      <p:pic>
        <p:nvPicPr>
          <p:cNvPr id="203" name="Google Shape;203;g20982fffd23_0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150" y="1690800"/>
            <a:ext cx="33337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0982fffd23_0_140"/>
          <p:cNvPicPr preferRelativeResize="0"/>
          <p:nvPr/>
        </p:nvPicPr>
        <p:blipFill rotWithShape="1">
          <a:blip r:embed="rId3">
            <a:alphaModFix/>
          </a:blip>
          <a:srcRect t="9214"/>
          <a:stretch/>
        </p:blipFill>
        <p:spPr>
          <a:xfrm>
            <a:off x="5653275" y="5141950"/>
            <a:ext cx="5128274" cy="15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0982fffd23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625" y="1394674"/>
            <a:ext cx="5128274" cy="1113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0982fffd23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602" y="2721601"/>
            <a:ext cx="4429891" cy="22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6bd2d310e_3_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思考</a:t>
            </a:r>
            <a:endParaRPr/>
          </a:p>
        </p:txBody>
      </p:sp>
      <p:sp>
        <p:nvSpPr>
          <p:cNvPr id="212" name="Google Shape;212;g256bd2d310e_3_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既然程序漏洞这么容易出现，那是否有相对应的防御机制？</a:t>
            </a:r>
            <a:endParaRPr sz="2400"/>
          </a:p>
          <a:p>
            <a:pPr marL="228600" lvl="0" indent="-203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 如果有防御机制，此时还能成功利用漏洞吗？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6bd2d310e_3_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dirty="0"/>
              <a:t>安全机制</a:t>
            </a:r>
            <a:endParaRPr dirty="0"/>
          </a:p>
        </p:txBody>
      </p:sp>
      <p:sp>
        <p:nvSpPr>
          <p:cNvPr id="218" name="Google Shape;218;g256bd2d310e_3_104"/>
          <p:cNvSpPr txBox="1">
            <a:spLocks noGrp="1"/>
          </p:cNvSpPr>
          <p:nvPr>
            <p:ph type="body" idx="1"/>
          </p:nvPr>
        </p:nvSpPr>
        <p:spPr>
          <a:xfrm>
            <a:off x="838200" y="14912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 dirty="0"/>
              <a:t> 可以使用 checksec 查看。checksec &lt;filename&gt;：</a:t>
            </a:r>
            <a:endParaRPr sz="2400" b="1" dirty="0">
              <a:solidFill>
                <a:srgbClr val="0B5394"/>
              </a:solidFill>
            </a:endParaRPr>
          </a:p>
        </p:txBody>
      </p:sp>
      <p:pic>
        <p:nvPicPr>
          <p:cNvPr id="219" name="Google Shape;219;g256bd2d310e_3_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6500" y="1982300"/>
            <a:ext cx="47910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256bd2d310e_3_104"/>
          <p:cNvSpPr txBox="1">
            <a:spLocks noGrp="1"/>
          </p:cNvSpPr>
          <p:nvPr>
            <p:ph type="body" idx="1"/>
          </p:nvPr>
        </p:nvSpPr>
        <p:spPr>
          <a:xfrm>
            <a:off x="838200" y="3248000"/>
            <a:ext cx="10791600" cy="3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zh-CN" sz="2400"/>
              <a:t>常见安全机制</a:t>
            </a:r>
            <a:endParaRPr sz="2400"/>
          </a:p>
          <a:p>
            <a:pPr marL="914400" lvl="1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 sz="2300"/>
              <a:t>PIE：代码段和数据段地址随机化偏移（以 4K 字节即一页为单位偏移）</a:t>
            </a:r>
            <a:endParaRPr sz="2300"/>
          </a:p>
          <a:p>
            <a:pPr marL="914400" lvl="1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Canary：在栈帧中放入一个常量，函数返回时检查该常量是否被修改，被</a:t>
            </a:r>
            <a:r>
              <a:rPr lang="zh-CN" sz="2350"/>
              <a:t>修改则报错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zh-CN"/>
              <a:t>NX：开启时将堆、栈等设置为不可执行，使得无法将机器码写入到其中并执行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B5394"/>
              </a:solidFill>
            </a:endParaRPr>
          </a:p>
        </p:txBody>
      </p:sp>
      <p:sp>
        <p:nvSpPr>
          <p:cNvPr id="221" name="Google Shape;221;g256bd2d310e_3_104"/>
          <p:cNvSpPr txBox="1">
            <a:spLocks noGrp="1"/>
          </p:cNvSpPr>
          <p:nvPr>
            <p:ph type="body" idx="1"/>
          </p:nvPr>
        </p:nvSpPr>
        <p:spPr>
          <a:xfrm>
            <a:off x="970500" y="5842450"/>
            <a:ext cx="10383300" cy="1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babystack 中关闭了 canary 和 PIE，然而：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CN" sz="2400" b="1">
                <a:solidFill>
                  <a:srgbClr val="FF0000"/>
                </a:solidFill>
              </a:rPr>
              <a:t>    即便安全机制全开也并不意味着安全</a:t>
            </a:r>
            <a:r>
              <a:rPr lang="zh-CN" sz="2400"/>
              <a:t>，在一定条件下仍然可以绕过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6bd2d310e_3_1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PIE</a:t>
            </a:r>
            <a:endParaRPr sz="2400"/>
          </a:p>
        </p:txBody>
      </p:sp>
      <p:sp>
        <p:nvSpPr>
          <p:cNvPr id="227" name="Google Shape;227;g256bd2d310e_3_1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PIE</a:t>
            </a:r>
            <a:endParaRPr sz="2400"/>
          </a:p>
          <a:p>
            <a:pPr marL="685800" lvl="1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不需要泄漏基地址，可以直接得到地址作为跳转目标等</a:t>
            </a:r>
            <a:endParaRPr sz="2400"/>
          </a:p>
          <a:p>
            <a:pPr marL="685800" lvl="1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gcc pie.c -o pie</a:t>
            </a:r>
            <a:endParaRPr/>
          </a:p>
          <a:p>
            <a:pPr marL="685800" lvl="1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/>
              <a:t>gcc pie.c -o no-pie -no-pie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228" name="Google Shape;228;g256bd2d310e_3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950" y="3145652"/>
            <a:ext cx="8536726" cy="27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56bd2d310e_3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1875" y="-460431"/>
            <a:ext cx="8536724" cy="307271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56bd2d310e_3_112"/>
          <p:cNvSpPr txBox="1"/>
          <p:nvPr/>
        </p:nvSpPr>
        <p:spPr>
          <a:xfrm>
            <a:off x="1480625" y="5965075"/>
            <a:ext cx="6858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C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256bd2d310e_3_112"/>
          <p:cNvSpPr txBox="1"/>
          <p:nvPr/>
        </p:nvSpPr>
        <p:spPr>
          <a:xfrm>
            <a:off x="8544200" y="5965075"/>
            <a:ext cx="11376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C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no-pie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6bd2d310e_3_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Canary</a:t>
            </a:r>
            <a:endParaRPr sz="2400"/>
          </a:p>
        </p:txBody>
      </p:sp>
      <p:sp>
        <p:nvSpPr>
          <p:cNvPr id="237" name="Google Shape;237;g256bd2d310e_3_1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Canary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238" name="Google Shape;238;g256bd2d310e_3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676737"/>
            <a:ext cx="2912825" cy="211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256bd2d310e_3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7600" y="1387550"/>
            <a:ext cx="5072415" cy="535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56bd2d310e_3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0800" y="2163263"/>
            <a:ext cx="3061025" cy="31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6bd2d310e_3_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安全机制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常见绕过方式</a:t>
            </a:r>
            <a:endParaRPr sz="2400"/>
          </a:p>
        </p:txBody>
      </p:sp>
      <p:sp>
        <p:nvSpPr>
          <p:cNvPr id="246" name="Google Shape;246;g256bd2d310e_3_129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8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PIE</a:t>
            </a:r>
            <a:endParaRPr sz="220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基址泄露：例如只要泄露了代码段上任一已知偏移地址，则整个代码段的地址都将泄露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zh-CN" sz="2200"/>
              <a:t>部分地址写：例如仅改写低 16 位地址，爆破 4 位，1/16 成功率</a:t>
            </a:r>
            <a:endParaRPr sz="22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Canary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Canary 泄露：注意 Canary 在整个进程中为同一常量</a:t>
            </a:r>
            <a:endParaRPr sz="220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避免修改 Canary：例如数组下标越界的读写</a:t>
            </a:r>
            <a:endParaRPr sz="220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one by one 爆破：程序中存在 fork 函数时逐位爆破 Canary</a:t>
            </a:r>
            <a:endParaRPr sz="220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TLS 结构体篡改：修改 Canary 常量为我们指定的值</a:t>
            </a:r>
            <a:endParaRPr sz="22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NX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ROP (Return-Oriented Programming)：利用代码段已有代码来拼凑</a:t>
            </a:r>
            <a:endParaRPr sz="220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zh-CN" sz="2200"/>
              <a:t>mmap、mprotect：mmap 申请一段可读写执行的内存，或者 mprotect 将已有的内存（例如栈）改为可执行。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需要根据题目确定具体的绕过方法，后面会有相关练习题。</a:t>
            </a:r>
            <a:endParaRPr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56bd2d310e_3_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CN" sz="5000"/>
              <a:t>ROP</a:t>
            </a:r>
            <a:endParaRPr sz="5000"/>
          </a:p>
        </p:txBody>
      </p:sp>
      <p:sp>
        <p:nvSpPr>
          <p:cNvPr id="252" name="Google Shape;252;g256bd2d310e_3_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6bd2d310e_3_36"/>
          <p:cNvSpPr txBox="1">
            <a:spLocks noGrp="1"/>
          </p:cNvSpPr>
          <p:nvPr>
            <p:ph type="title"/>
          </p:nvPr>
        </p:nvSpPr>
        <p:spPr>
          <a:xfrm>
            <a:off x="838200" y="285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ROP（Return Oriented Programming）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  <p:sp>
        <p:nvSpPr>
          <p:cNvPr id="258" name="Google Shape;258;g256bd2d310e_3_36"/>
          <p:cNvSpPr txBox="1">
            <a:spLocks noGrp="1"/>
          </p:cNvSpPr>
          <p:nvPr>
            <p:ph type="body" idx="1"/>
          </p:nvPr>
        </p:nvSpPr>
        <p:spPr>
          <a:xfrm>
            <a:off x="838200" y="1510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zh-CN" sz="2500"/>
              <a:t>利用返回地址和指令的参数保存在栈上面的特点，通过精心布置栈上内容，可以让程序依次执行多个 gadget。这些 gadget 组合出了我们希望执行的恶意代码。</a:t>
            </a:r>
            <a:endParaRPr sz="2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zh-CN" sz="2500"/>
              <a:t>注意 32 位的全部参数、64 位部分的参数也保存在栈上面</a:t>
            </a:r>
            <a:endParaRPr sz="2500"/>
          </a:p>
        </p:txBody>
      </p:sp>
      <p:pic>
        <p:nvPicPr>
          <p:cNvPr id="259" name="Google Shape;259;g256bd2d310e_3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2101" y="3686025"/>
            <a:ext cx="7509899" cy="51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56bd2d310e_3_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ret;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65" name="Google Shape;265;g256bd2d310e_3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56bd2d310e_3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0250" y="2143050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56bd2d310e_3_42"/>
          <p:cNvSpPr txBox="1">
            <a:spLocks noGrp="1"/>
          </p:cNvSpPr>
          <p:nvPr>
            <p:ph type="body" idx="1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68" name="Google Shape;268;g256bd2d310e_3_42"/>
          <p:cNvSpPr txBox="1">
            <a:spLocks noGrp="1"/>
          </p:cNvSpPr>
          <p:nvPr>
            <p:ph type="body" idx="1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69" name="Google Shape;269;g256bd2d310e_3_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6bd2d310e_3_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</a:t>
            </a:r>
            <a:r>
              <a:rPr lang="zh-CN">
                <a:solidFill>
                  <a:srgbClr val="FF0000"/>
                </a:solidFill>
              </a:rPr>
              <a:t>pop rax</a:t>
            </a:r>
            <a:r>
              <a:rPr lang="zh-CN"/>
              <a:t>; ret;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75" name="Google Shape;275;g256bd2d310e_3_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256bd2d310e_3_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0250" y="2805725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56bd2d310e_3_51"/>
          <p:cNvSpPr txBox="1">
            <a:spLocks noGrp="1"/>
          </p:cNvSpPr>
          <p:nvPr>
            <p:ph type="body" idx="1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78" name="Google Shape;278;g256bd2d310e_3_51"/>
          <p:cNvSpPr txBox="1">
            <a:spLocks noGrp="1"/>
          </p:cNvSpPr>
          <p:nvPr>
            <p:ph type="body" idx="1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79" name="Google Shape;279;g256bd2d310e_3_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6bd2d310e_3_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</a:t>
            </a:r>
            <a:r>
              <a:rPr lang="zh-CN">
                <a:solidFill>
                  <a:srgbClr val="FF0000"/>
                </a:solidFill>
              </a:rPr>
              <a:t>ret</a:t>
            </a:r>
            <a:r>
              <a:rPr lang="zh-CN"/>
              <a:t>;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pop rbx; ret;</a:t>
            </a:r>
            <a:endParaRPr/>
          </a:p>
        </p:txBody>
      </p:sp>
      <p:pic>
        <p:nvPicPr>
          <p:cNvPr id="285" name="Google Shape;285;g256bd2d310e_3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56bd2d310e_3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0250" y="3483000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56bd2d310e_3_60"/>
          <p:cNvSpPr txBox="1">
            <a:spLocks noGrp="1"/>
          </p:cNvSpPr>
          <p:nvPr>
            <p:ph type="body" idx="1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88" name="Google Shape;288;g256bd2d310e_3_60"/>
          <p:cNvSpPr txBox="1">
            <a:spLocks noGrp="1"/>
          </p:cNvSpPr>
          <p:nvPr>
            <p:ph type="body" idx="1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89" name="Google Shape;289;g256bd2d310e_3_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56bd2d310e_3_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0x123: pop rax; ret;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0x456: </a:t>
            </a:r>
            <a:r>
              <a:rPr lang="zh-CN">
                <a:solidFill>
                  <a:srgbClr val="FF0000"/>
                </a:solidFill>
              </a:rPr>
              <a:t>pop rbx</a:t>
            </a:r>
            <a:r>
              <a:rPr lang="zh-CN"/>
              <a:t>; ret;</a:t>
            </a:r>
            <a:endParaRPr/>
          </a:p>
        </p:txBody>
      </p:sp>
      <p:pic>
        <p:nvPicPr>
          <p:cNvPr id="295" name="Google Shape;295;g256bd2d310e_3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625" y="2450625"/>
            <a:ext cx="3167400" cy="316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256bd2d310e_3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0250" y="4153925"/>
            <a:ext cx="1588700" cy="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256bd2d310e_3_69"/>
          <p:cNvSpPr txBox="1">
            <a:spLocks noGrp="1"/>
          </p:cNvSpPr>
          <p:nvPr>
            <p:ph type="body" idx="1"/>
          </p:nvPr>
        </p:nvSpPr>
        <p:spPr>
          <a:xfrm>
            <a:off x="6045750" y="52082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高地址</a:t>
            </a:r>
            <a:endParaRPr sz="2200"/>
          </a:p>
        </p:txBody>
      </p:sp>
      <p:sp>
        <p:nvSpPr>
          <p:cNvPr id="298" name="Google Shape;298;g256bd2d310e_3_69"/>
          <p:cNvSpPr txBox="1">
            <a:spLocks noGrp="1"/>
          </p:cNvSpPr>
          <p:nvPr>
            <p:ph type="body" idx="1"/>
          </p:nvPr>
        </p:nvSpPr>
        <p:spPr>
          <a:xfrm>
            <a:off x="6045750" y="2450625"/>
            <a:ext cx="10164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/>
              <a:t>低地址</a:t>
            </a:r>
            <a:endParaRPr sz="2200"/>
          </a:p>
        </p:txBody>
      </p:sp>
      <p:sp>
        <p:nvSpPr>
          <p:cNvPr id="299" name="Google Shape;299;g256bd2d310e_3_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56bd2d310e_3_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ROP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gadget 寻找</a:t>
            </a:r>
            <a:endParaRPr sz="2400"/>
          </a:p>
        </p:txBody>
      </p:sp>
      <p:sp>
        <p:nvSpPr>
          <p:cNvPr id="305" name="Google Shape;305;g256bd2d310e_3_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700"/>
              <a:t>ROPgadget</a:t>
            </a:r>
            <a:endParaRPr sz="2700"/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 u="sng">
                <a:solidFill>
                  <a:schemeClr val="hlink"/>
                </a:solidFill>
                <a:hlinkClick r:id="rId3"/>
              </a:rPr>
              <a:t>https://github.com/JonathanSalwan/ROPgadget</a:t>
            </a:r>
            <a:endParaRPr sz="2300"/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/>
              <a:t>ROPgadget --binary rop &gt; gadget</a:t>
            </a:r>
            <a:endParaRPr sz="23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700"/>
              <a:t>ropper</a:t>
            </a:r>
            <a:endParaRPr sz="2700"/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 u="sng">
                <a:solidFill>
                  <a:schemeClr val="hlink"/>
                </a:solidFill>
                <a:hlinkClick r:id="rId4"/>
              </a:rPr>
              <a:t>https://github.com/sashs/Ropper</a:t>
            </a:r>
            <a:endParaRPr sz="2300"/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zh-CN" sz="2300"/>
              <a:t>ropper -f rop --nocolor &gt; gadget</a:t>
            </a:r>
            <a:endParaRPr sz="2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6bd2d310e_3_1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和 x86-64</a:t>
            </a:r>
            <a:endParaRPr sz="2400"/>
          </a:p>
        </p:txBody>
      </p:sp>
      <p:pic>
        <p:nvPicPr>
          <p:cNvPr id="311" name="Google Shape;311;g256bd2d310e_3_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3200" y="1425575"/>
            <a:ext cx="516255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256bd2d310e_3_134"/>
          <p:cNvSpPr txBox="1">
            <a:spLocks noGrp="1"/>
          </p:cNvSpPr>
          <p:nvPr>
            <p:ph type="body" idx="1"/>
          </p:nvPr>
        </p:nvSpPr>
        <p:spPr>
          <a:xfrm>
            <a:off x="838200" y="1538000"/>
            <a:ext cx="5442300" cy="49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6800" rIns="91425" bIns="90000" anchor="t" anchorCtr="0">
            <a:normAutofit lnSpcReduction="10000"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x86-64</a:t>
            </a:r>
            <a:endParaRPr sz="24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16 个通用寄存器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rsp、rbp 与栈有关</a:t>
            </a:r>
            <a:endParaRPr sz="2200"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rdi、rsi、rdx、rcx、r8、r9 依次存储函数前 6 个参数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大于6个的参数保存在栈上</a:t>
            </a: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CN" sz="2400"/>
              <a:t>x86-32</a:t>
            </a:r>
            <a:endParaRPr sz="24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8 个通用寄存器（右图前 8 个）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zh-CN" sz="2200"/>
              <a:t>esp、ebp 与栈有关</a:t>
            </a:r>
            <a:endParaRPr sz="2200"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参数均保存在栈上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6bd2d310e_3_1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pwn 和 x86-64 pwn</a:t>
            </a:r>
            <a:endParaRPr sz="2400"/>
          </a:p>
        </p:txBody>
      </p:sp>
      <p:sp>
        <p:nvSpPr>
          <p:cNvPr id="318" name="Google Shape;318;g256bd2d310e_3_1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区别不太大：</a:t>
            </a:r>
            <a:endParaRPr sz="2400"/>
          </a:p>
          <a:p>
            <a:pPr marL="91440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zh-CN"/>
              <a:t>显然，x86-32 使用 32 位寄存器，x86-64 使用 64 位寄存器。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注意对应的 p64/p32 和 u64/u32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32 位下 esp 每次移动 4 字节，而 64 下 rsp 每次移动 8 字节 </a:t>
            </a:r>
            <a:endParaRPr/>
          </a:p>
          <a:p>
            <a:pPr marL="91440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zh-CN"/>
              <a:t>x86-64 需要寻找 gadget 来对寄存器赋值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zh-CN" sz="2400"/>
              <a:t>CTF 越来越倾向于考察 64 位，但 32 位仍时有出现，均需要掌握。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56bd2d310e_3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x86-32 pwn 和 x86-64 pwn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324" name="Google Shape;324;g256bd2d310e_3_13"/>
          <p:cNvSpPr txBox="1">
            <a:spLocks noGrp="1"/>
          </p:cNvSpPr>
          <p:nvPr>
            <p:ph type="body" idx="1"/>
          </p:nvPr>
        </p:nvSpPr>
        <p:spPr>
          <a:xfrm>
            <a:off x="1149725" y="1896025"/>
            <a:ext cx="9379200" cy="4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zh-CN" sz="2400">
                <a:solidFill>
                  <a:srgbClr val="000000"/>
                </a:solidFill>
              </a:rPr>
              <a:t>x86-32——题目 jarvisoj_level2</a:t>
            </a:r>
            <a:endParaRPr sz="2400">
              <a:solidFill>
                <a:srgbClr val="000000"/>
              </a:solidFill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lang="zh-CN" sz="2200">
                <a:solidFill>
                  <a:srgbClr val="000000"/>
                </a:solidFill>
              </a:rPr>
              <a:t>8 个通用寄存器</a:t>
            </a:r>
            <a:endParaRPr sz="2200">
              <a:solidFill>
                <a:srgbClr val="000000"/>
              </a:solidFill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○"/>
            </a:pPr>
            <a:r>
              <a:rPr lang="zh-CN" sz="2200">
                <a:solidFill>
                  <a:srgbClr val="000000"/>
                </a:solidFill>
              </a:rPr>
              <a:t>esp、ebp 与栈有关</a:t>
            </a:r>
            <a:endParaRPr sz="2200">
              <a:solidFill>
                <a:srgbClr val="000000"/>
              </a:solidFill>
            </a:endParaRPr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zh-CN" sz="2200">
                <a:solidFill>
                  <a:srgbClr val="000000"/>
                </a:solidFill>
              </a:rPr>
              <a:t>函数调用约定</a:t>
            </a:r>
            <a:endParaRPr sz="2200">
              <a:solidFill>
                <a:srgbClr val="000000"/>
              </a:solidFill>
            </a:endParaRPr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zh-CN" sz="2200">
                <a:solidFill>
                  <a:srgbClr val="000000"/>
                </a:solidFill>
              </a:rPr>
              <a:t>参数均保存在栈上</a:t>
            </a:r>
            <a:endParaRPr sz="2200">
              <a:solidFill>
                <a:srgbClr val="000000"/>
              </a:solidFill>
            </a:endParaRPr>
          </a:p>
          <a:p>
            <a:pPr marL="1371600" lvl="1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zh-CN" sz="2200">
                <a:solidFill>
                  <a:srgbClr val="000000"/>
                </a:solidFill>
              </a:rPr>
              <a:t>rax 存储函数返回值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rgbClr val="00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CN" sz="2400"/>
              <a:t>x86-64——题目 baby_rop </a:t>
            </a:r>
            <a:endParaRPr sz="24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CN" sz="2200"/>
              <a:t>16 个通用寄存器</a:t>
            </a:r>
            <a:endParaRPr sz="220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zh-CN" sz="2200"/>
              <a:t>rsp、rbp 与栈有关</a:t>
            </a:r>
            <a:endParaRPr sz="2200"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CN" sz="2200"/>
              <a:t>函数调用约定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rdi、rsi、rdx、rcx、r8、r9 依次存储函数前 6 个参数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rax 存储函数返回值</a:t>
            </a:r>
            <a:endParaRPr sz="2200"/>
          </a:p>
          <a:p>
            <a:pPr marL="13716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CN" sz="2200"/>
              <a:t>大于6个的参数保存在栈上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2626a214cf_0_10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x86-64</a:t>
            </a:r>
            <a:endParaRPr sz="2400"/>
          </a:p>
        </p:txBody>
      </p:sp>
      <p:sp>
        <p:nvSpPr>
          <p:cNvPr id="330" name="Google Shape;330;g22626a214cf_0_10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 syscall 指令来执行 execve，从而拿到 shell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Google “syscall table” -&gt; “</a:t>
            </a:r>
            <a:r>
              <a:rPr lang="zh-CN" sz="2300"/>
              <a:t>Linux System Call Table”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参数传递（64位）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系统调用号：rax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参数：rdi, rsi, rdx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execve(“/bin/sh”, 0, 0)</a:t>
            </a:r>
            <a:endParaRPr sz="2300"/>
          </a:p>
        </p:txBody>
      </p:sp>
      <p:pic>
        <p:nvPicPr>
          <p:cNvPr id="331" name="Google Shape;331;g22626a214cf_0_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450" y="5476625"/>
            <a:ext cx="11259099" cy="119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56bd2d310e_3_1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x86-32</a:t>
            </a:r>
            <a:endParaRPr sz="2400"/>
          </a:p>
        </p:txBody>
      </p:sp>
      <p:sp>
        <p:nvSpPr>
          <p:cNvPr id="337" name="Google Shape;337;g256bd2d310e_3_1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 int 0x80 指令来执行 execve，从而拿到 shell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Google “syscall table” -&gt; “</a:t>
            </a:r>
            <a:r>
              <a:rPr lang="zh-CN" sz="2300"/>
              <a:t>Linux System Call Table”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参数传递（64位）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系统调用号：eax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参数：ebx, ecx, edx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execve(“/bin/sh”, 0, 0)</a:t>
            </a:r>
            <a:endParaRPr sz="2300"/>
          </a:p>
        </p:txBody>
      </p:sp>
      <p:pic>
        <p:nvPicPr>
          <p:cNvPr id="338" name="Google Shape;338;g256bd2d310e_3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900" y="5451398"/>
            <a:ext cx="11430574" cy="72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08d29395d07b577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ret2syscall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344" name="Google Shape;344;g208d29395d07b577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题目 not_the_same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此题有后门函数 get_secret，但请勿使用该后门，考虑利用 ret2syscall 完成题目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没有 /bin/sh 字符串：利用 gadget 将字符串从寄存器传入到内存中，ROPgadget --binary pwn | grep -E "mov dword ptr \[(eax|edi|esi|edx|ebx)\], (eax|edi|esi|edx|ebx) ; ret"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2626a214cf_0_1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动态链接</a:t>
            </a:r>
            <a:endParaRPr/>
          </a:p>
        </p:txBody>
      </p:sp>
      <p:sp>
        <p:nvSpPr>
          <p:cNvPr id="350" name="Google Shape;350;g22626a214cf_0_1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 sz="2300"/>
              <a:t>大部分程序都不会把所有的代码都添加到binary中，而是使用动态链接的方式</a:t>
            </a:r>
            <a:endParaRPr sz="2300"/>
          </a:p>
        </p:txBody>
      </p:sp>
      <p:pic>
        <p:nvPicPr>
          <p:cNvPr id="351" name="Google Shape;351;g22626a214cf_0_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4625" y="2744300"/>
            <a:ext cx="9558750" cy="1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2626a214cf_0_1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57" name="Google Shape;357;g22626a214cf_0_1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92500" lnSpcReduction="20000"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不同的库会加载到不同的基地址，如何在运行时动态调用？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.got、.plt、.got.plt和.plt.got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.got</a:t>
            </a:r>
            <a:endParaRPr sz="2300"/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GOT（Global Offset Table）全局偏移表。这是“链接器”为“外部符号”填充的实际偏移表。</a:t>
            </a:r>
            <a:endParaRPr sz="19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zh-CN" sz="2300">
                <a:solidFill>
                  <a:srgbClr val="FF0000"/>
                </a:solidFill>
              </a:rPr>
              <a:t>.plt</a:t>
            </a:r>
            <a:endParaRPr sz="2300">
              <a:solidFill>
                <a:srgbClr val="FF0000"/>
              </a:solidFill>
            </a:endParaRPr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PLT（Procedure Linkage Table）程序链接表</a:t>
            </a:r>
            <a:endParaRPr sz="1900"/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要么在.got.plt里面拿到地址，要么使用链接器解析符号并拿到地址</a:t>
            </a:r>
            <a:endParaRPr sz="19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Char char="•"/>
            </a:pPr>
            <a:r>
              <a:rPr lang="zh-CN" sz="2300">
                <a:solidFill>
                  <a:srgbClr val="FF0000"/>
                </a:solidFill>
              </a:rPr>
              <a:t>.got.plt</a:t>
            </a:r>
            <a:endParaRPr sz="2300">
              <a:solidFill>
                <a:srgbClr val="FF0000"/>
              </a:solidFill>
            </a:endParaRPr>
          </a:p>
          <a:p>
            <a: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zh-CN" sz="1900"/>
              <a:t>.got中专门为.plt的一部分</a:t>
            </a:r>
            <a:endParaRPr sz="19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.plt.got</a:t>
            </a:r>
            <a:endParaRPr sz="2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626a214cf_0_1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63" name="Google Shape;363;g22626a214cf_0_1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clang plt.c -o plt -Wl,-z,norelro -no-pie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gcc plt.c -o plt -Wl,-z,norelro -no-pie</a:t>
            </a:r>
            <a:endParaRPr sz="2300"/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</p:txBody>
      </p:sp>
      <p:pic>
        <p:nvPicPr>
          <p:cNvPr id="364" name="Google Shape;364;g22626a214cf_0_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8750" y="3259074"/>
            <a:ext cx="961135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22626a214cf_0_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250" y="4529725"/>
            <a:ext cx="8259899" cy="21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263d27face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plt与got</a:t>
            </a:r>
            <a:endParaRPr/>
          </a:p>
        </p:txBody>
      </p:sp>
      <p:sp>
        <p:nvSpPr>
          <p:cNvPr id="371" name="Google Shape;371;g2263d27face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debug and follow resolve</a:t>
            </a:r>
            <a:endParaRPr sz="2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56bd2d310e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原理</a:t>
            </a:r>
            <a:endParaRPr sz="2400"/>
          </a:p>
        </p:txBody>
      </p:sp>
      <p:sp>
        <p:nvSpPr>
          <p:cNvPr id="377" name="Google Shape;377;g256bd2d310e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动态编译的程序里，可利用的函数、gadget 可能并不足够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考虑利用 libc，其中通常包含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大量 gadget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/bin/sh 字符串</a:t>
            </a:r>
            <a:endParaRPr/>
          </a:p>
          <a:p>
            <a:pPr marL="914400" lvl="1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system 等各类函数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zh-CN"/>
              <a:t>利用前提：</a:t>
            </a:r>
            <a:r>
              <a:rPr lang="zh-CN" b="1">
                <a:solidFill>
                  <a:srgbClr val="FF0000"/>
                </a:solidFill>
              </a:rPr>
              <a:t>泄露 libc 基址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08d29395d07b577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步骤1. 泄露 libc 基址</a:t>
            </a:r>
            <a:endParaRPr sz="2400"/>
          </a:p>
        </p:txBody>
      </p:sp>
      <p:sp>
        <p:nvSpPr>
          <p:cNvPr id="383" name="Google Shape;383;g208d29395d07b577_6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9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2600"/>
              <a:t>常用的两种方式：</a:t>
            </a:r>
            <a:endParaRPr sz="26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输出 .got.plt 表项</a:t>
            </a:r>
            <a:endParaRPr sz="24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输出栈上内容</a:t>
            </a:r>
            <a:endParaRPr sz="240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CN" sz="2600"/>
              <a:t>如何输出：</a:t>
            </a:r>
            <a:endParaRPr sz="26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利用 ROP，执行 .plt 中存在的输出函数（例如 write、puts、printf）</a:t>
            </a:r>
            <a:endParaRPr sz="24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利用字符串末尾没有补零，输出紧随字符串其后的栈上内容</a:t>
            </a:r>
            <a:endParaRPr sz="2400"/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zh-CN" sz="2400"/>
              <a:t>其他漏洞（例如格式化字符串漏洞）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08d29395d07b577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步骤2. 获取 libc 文件</a:t>
            </a:r>
            <a:endParaRPr sz="2400"/>
          </a:p>
        </p:txBody>
      </p:sp>
      <p:sp>
        <p:nvSpPr>
          <p:cNvPr id="389" name="Google Shape;389;g208d29395d07b577_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 有很多个版本，如果题目未下发 libc 文件，如何确认目标使用的 libc 版本？</a:t>
            </a:r>
            <a:endParaRPr sz="2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通过泄露的 libc 函数地址的末尾 3 个十六进制位（以一页 4KB 为单位偏移），反向推导 libc 版本。</a:t>
            </a:r>
            <a:endParaRPr sz="2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libcsearcher: </a:t>
            </a:r>
            <a:r>
              <a:rPr lang="zh-CN" sz="2600" u="sng">
                <a:solidFill>
                  <a:schemeClr val="hlink"/>
                </a:solidFill>
                <a:hlinkClick r:id="rId3"/>
              </a:rPr>
              <a:t>https://github.com/lieanu/LibcSearcher</a:t>
            </a:r>
            <a:r>
              <a:rPr lang="zh-CN" sz="2600"/>
              <a:t> </a:t>
            </a:r>
            <a:endParaRPr sz="2600"/>
          </a:p>
          <a:p>
            <a:pPr marL="914400" lvl="1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libc-database: </a:t>
            </a:r>
            <a:r>
              <a:rPr lang="zh-CN" sz="2600" u="sng">
                <a:solidFill>
                  <a:schemeClr val="hlink"/>
                </a:solidFill>
                <a:hlinkClick r:id="rId4"/>
              </a:rPr>
              <a:t>https://libc.rip/</a:t>
            </a:r>
            <a:endParaRPr sz="2600"/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08d29395d07b577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步骤3. 利用 libc 完成攻击</a:t>
            </a:r>
            <a:endParaRPr sz="2400"/>
          </a:p>
        </p:txBody>
      </p:sp>
      <p:sp>
        <p:nvSpPr>
          <p:cNvPr id="395" name="Google Shape;395;g208d29395d07b577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fontScale="92500" lnSpcReduction="20000"/>
          </a:bodyPr>
          <a:lstStyle/>
          <a:p>
            <a:pPr marL="457200" lvl="0" indent="-31496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1：利用 libc 中的 /bin/sh 字符串和 system 函数，执行 system(“/bin/sh”)</a:t>
            </a:r>
            <a:endParaRPr sz="2600"/>
          </a:p>
          <a:p>
            <a:pPr marL="457200" lvl="0" indent="-31496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2：one_gadget：</a:t>
            </a:r>
            <a:r>
              <a:rPr lang="zh-CN" sz="2600" u="sng">
                <a:solidFill>
                  <a:schemeClr val="hlink"/>
                </a:solidFill>
                <a:hlinkClick r:id="rId3"/>
              </a:rPr>
              <a:t>https://github.com/david942j/one_gadget</a:t>
            </a:r>
            <a:r>
              <a:rPr lang="zh-CN" sz="2600"/>
              <a:t> ，跳转到 one_gadget 后可以一键 getshell，但需要寄存器/内存在此时满足一定要求。</a:t>
            </a:r>
            <a:endParaRPr sz="2200"/>
          </a:p>
          <a:p>
            <a:pPr marL="457200" lvl="0" indent="-31496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1538"/>
              <a:buChar char="•"/>
            </a:pPr>
            <a:r>
              <a:rPr lang="zh-CN" sz="2600"/>
              <a:t>方法 3：使用 libc 中的 gadget 自行组合恶意代码 </a:t>
            </a:r>
            <a:endParaRPr sz="2600"/>
          </a:p>
          <a:p>
            <a:pPr marL="914400" lvl="1" indent="-304165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58333"/>
              <a:buChar char="•"/>
            </a:pPr>
            <a:r>
              <a:rPr lang="zh-CN"/>
              <a:t>例如程序使用 seccomp 禁止了 execve，此时可以用 gadget 拼凑出 ORW (Open、Read、Write) 三个操作。即打开 flag 文件、读取 flag 文件、输出 flag 内容。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08d29395d07b577_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ret2libc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2400"/>
              <a:t>练习</a:t>
            </a:r>
            <a:endParaRPr sz="2400"/>
          </a:p>
        </p:txBody>
      </p:sp>
      <p:sp>
        <p:nvSpPr>
          <p:cNvPr id="401" name="Google Shape;401;g208d29395d07b577_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zh-CN" sz="2600"/>
              <a:t>题目 jarvisoj_level3_x64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5695151341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整数溢出</a:t>
            </a:r>
            <a:endParaRPr/>
          </a:p>
        </p:txBody>
      </p:sp>
      <p:sp>
        <p:nvSpPr>
          <p:cNvPr id="407" name="Google Shape;407;g25695151341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unsigned -&gt; signed, signed -&gt; unsigned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负数 -&gt; unsigned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大正数 -&gt; signed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actf_2019_anotherrepeater</a:t>
            </a:r>
            <a:endParaRPr sz="2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5695151341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13" name="Google Shape;413;g25695151341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格式化字符串原理</a:t>
            </a:r>
            <a:endParaRPr sz="2300"/>
          </a:p>
        </p:txBody>
      </p:sp>
      <p:pic>
        <p:nvPicPr>
          <p:cNvPr id="414" name="Google Shape;414;g2569515134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450" y="2607538"/>
            <a:ext cx="6900299" cy="1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56ac1cde2a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参数传递方法</a:t>
            </a:r>
            <a:endParaRPr/>
          </a:p>
        </p:txBody>
      </p:sp>
      <p:sp>
        <p:nvSpPr>
          <p:cNvPr id="420" name="Google Shape;420;g256ac1cde2a_0_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x86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所有的参数通过栈的方式进行传递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x64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前6个参数使用寄存器传递，后面的参数使用栈进行传递</a:t>
            </a:r>
            <a:endParaRPr sz="2300"/>
          </a:p>
        </p:txBody>
      </p:sp>
      <p:pic>
        <p:nvPicPr>
          <p:cNvPr id="421" name="Google Shape;421;g256ac1cde2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875" y="4354213"/>
            <a:ext cx="6900299" cy="1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56bd2d310e_2_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27" name="Google Shape;427;g256bd2d310e_2_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6ac1cde2a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格式化字符串</a:t>
            </a:r>
            <a:endParaRPr/>
          </a:p>
        </p:txBody>
      </p:sp>
      <p:sp>
        <p:nvSpPr>
          <p:cNvPr id="433" name="Google Shape;433;g256ac1cde2a_0_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只有格式化字符串，没有对应的参数</a:t>
            </a:r>
            <a:endParaRPr sz="2300"/>
          </a:p>
        </p:txBody>
      </p:sp>
      <p:pic>
        <p:nvPicPr>
          <p:cNvPr id="434" name="Google Shape;434;g256ac1cde2a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375" y="2719325"/>
            <a:ext cx="5817300" cy="4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56ac1cde2a_0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40" name="Google Shape;440;g256ac1cde2a_0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泄漏地址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获取栈变量数值</a:t>
            </a:r>
            <a:endParaRPr sz="2300"/>
          </a:p>
          <a:p>
            <a:pPr marL="1371600" lvl="2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%08x.%08x.%08x</a:t>
            </a:r>
            <a:endParaRPr sz="2300"/>
          </a:p>
          <a:p>
            <a:pPr marL="1371600" lvl="2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%p.%p.%p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获取第n个参数位置的数值</a:t>
            </a:r>
            <a:endParaRPr sz="2300"/>
          </a:p>
          <a:p>
            <a:pPr marL="1371600" lvl="2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%n$x</a:t>
            </a:r>
            <a:endParaRPr sz="2300"/>
          </a:p>
          <a:p>
            <a:pPr marL="914400" lvl="1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栈变量视为指针时对应的字符串</a:t>
            </a:r>
            <a:endParaRPr sz="2300"/>
          </a:p>
          <a:p>
            <a:pPr marL="1371600" lvl="2" indent="-3746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%s</a:t>
            </a:r>
            <a:endParaRPr sz="2300"/>
          </a:p>
        </p:txBody>
      </p:sp>
      <p:pic>
        <p:nvPicPr>
          <p:cNvPr id="441" name="Google Shape;441;g256ac1cde2a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650" y="2113625"/>
            <a:ext cx="5695150" cy="263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56ac1cde2a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47" name="Google Shape;447;g256ac1cde2a_0_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任意地址泄漏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将所需要的地址addr放在第k个参数的位置上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格式化字符串 `addr%k$s`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例子：format_string_1.c</a:t>
            </a:r>
            <a:endParaRPr sz="2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56ac1cde2a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利用</a:t>
            </a:r>
            <a:endParaRPr/>
          </a:p>
        </p:txBody>
      </p:sp>
      <p:sp>
        <p:nvSpPr>
          <p:cNvPr id="453" name="Google Shape;453;g256ac1cde2a_0_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 lnSpcReduction="10000"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覆盖内存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%n不输出字符，但是把已经成功输出的字符个数，写入对应的整型</a:t>
            </a:r>
            <a:r>
              <a:rPr lang="zh-CN" sz="2300" b="1"/>
              <a:t>指针参数</a:t>
            </a:r>
            <a:r>
              <a:rPr lang="zh-CN" sz="2300"/>
              <a:t>所指的变量</a:t>
            </a:r>
            <a:endParaRPr sz="2300"/>
          </a:p>
          <a:p>
            <a:pPr marL="1371600" lvl="2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...[overwrite addr]....%[overwrite offset]$n</a:t>
            </a:r>
            <a:endParaRPr sz="2300"/>
          </a:p>
          <a:p>
            <a:pPr marL="914400" lvl="1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%numc：输出字符，但是对齐到num的宽度，等价于打印num个字符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实现覆盖任意大小的数字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例子：format_string_2.c</a:t>
            </a:r>
            <a:endParaRPr sz="23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ebb60e225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练习题</a:t>
            </a:r>
            <a:endParaRPr/>
          </a:p>
        </p:txBody>
      </p:sp>
      <p:sp>
        <p:nvSpPr>
          <p:cNvPr id="459" name="Google Shape;459;g22ebb60e225_0_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inndy_echo</a:t>
            </a:r>
            <a:endParaRPr sz="2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6ac1cde2a_0_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堆</a:t>
            </a:r>
            <a:endParaRPr/>
          </a:p>
        </p:txBody>
      </p:sp>
      <p:sp>
        <p:nvSpPr>
          <p:cNvPr id="465" name="Google Shape;465;g256ac1cde2a_0_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堆溢出：程序向某个堆块中写入的字节数超过了堆块本身可使用的字节数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malloc、realloc、free</a:t>
            </a:r>
            <a:endParaRPr sz="2300"/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/>
          </a:p>
        </p:txBody>
      </p:sp>
      <p:sp>
        <p:nvSpPr>
          <p:cNvPr id="466" name="Google Shape;466;g256ac1cde2a_0_38"/>
          <p:cNvSpPr/>
          <p:nvPr/>
        </p:nvSpPr>
        <p:spPr>
          <a:xfrm>
            <a:off x="4233600" y="3655250"/>
            <a:ext cx="1862400" cy="79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prev_size</a:t>
            </a:r>
            <a:endParaRPr/>
          </a:p>
        </p:txBody>
      </p:sp>
      <p:sp>
        <p:nvSpPr>
          <p:cNvPr id="467" name="Google Shape;467;g256ac1cde2a_0_38"/>
          <p:cNvSpPr/>
          <p:nvPr/>
        </p:nvSpPr>
        <p:spPr>
          <a:xfrm>
            <a:off x="6096000" y="3655250"/>
            <a:ext cx="1862400" cy="79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size</a:t>
            </a:r>
            <a:endParaRPr/>
          </a:p>
        </p:txBody>
      </p:sp>
      <p:sp>
        <p:nvSpPr>
          <p:cNvPr id="468" name="Google Shape;468;g256ac1cde2a_0_38"/>
          <p:cNvSpPr/>
          <p:nvPr/>
        </p:nvSpPr>
        <p:spPr>
          <a:xfrm>
            <a:off x="4233600" y="4453525"/>
            <a:ext cx="3724800" cy="798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user content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263d27face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474" name="Google Shape;474;g2263d27face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•pwn的最终目的：控制EIP/RIP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•程序运行中有哪些可以劫持控制流的地方？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•攻击者能够影响到的，是程序的输入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•代码可以是数据，数据也可以是代码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•栈中的返回地址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800"/>
              <a:t>•GOT表</a:t>
            </a:r>
            <a:endParaRPr sz="1800"/>
          </a:p>
          <a:p>
            <a:pPr marL="45720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 sz="1800"/>
              <a:t>•其他函数指针（异常处理、File IO、虚表……）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 sz="2000"/>
              <a:t>内存攻击的本质:一步步扩大可控的</a:t>
            </a:r>
            <a:r>
              <a:rPr lang="zh-CN" sz="2000">
                <a:solidFill>
                  <a:srgbClr val="FF0000"/>
                </a:solidFill>
              </a:rPr>
              <a:t>内存和寄存器</a:t>
            </a:r>
            <a:endParaRPr sz="2000">
              <a:solidFill>
                <a:srgbClr val="FF0000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zh-CN" sz="2000">
                <a:solidFill>
                  <a:srgbClr val="FF0000"/>
                </a:solidFill>
              </a:rPr>
              <a:t>(劫持控制流 -&gt; Shellcode、ROP、JOP、SROP )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ebb60e225_0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练习题</a:t>
            </a:r>
            <a:endParaRPr/>
          </a:p>
        </p:txBody>
      </p:sp>
      <p:sp>
        <p:nvSpPr>
          <p:cNvPr id="480" name="Google Shape;480;g22ebb60e225_0_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36000" anchor="t" anchorCtr="0">
            <a:norm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ciscn_2019_es_2：栈地址泄露+栈迁移+ret2system</a:t>
            </a:r>
            <a:endParaRPr sz="2300"/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zh-CN" sz="2300"/>
              <a:t>inndy_echo_2: 格式化字符串泄漏地址+修改任意地址</a:t>
            </a:r>
            <a:endParaRPr sz="2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zh-CN"/>
              <a:t>参考资料</a:t>
            </a:r>
            <a:endParaRPr/>
          </a:p>
        </p:txBody>
      </p:sp>
      <p:sp>
        <p:nvSpPr>
          <p:cNvPr id="486" name="Google Shape;48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xuanxuanblingbling’s presentation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CTF Wiki：</a:t>
            </a:r>
            <a:r>
              <a:rPr lang="zh-CN" u="sng">
                <a:solidFill>
                  <a:schemeClr val="hlink"/>
                </a:solidFill>
                <a:hlinkClick r:id="rId3"/>
              </a:rPr>
              <a:t>https://ctf-wiki.org/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zh-CN"/>
              <a:t>Wikipedia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3174</Words>
  <Application>Microsoft Macintosh PowerPoint</Application>
  <PresentationFormat>宽屏</PresentationFormat>
  <Paragraphs>373</Paragraphs>
  <Slides>58</Slides>
  <Notes>58</Notes>
  <HiddenSlides>3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0" baseType="lpstr">
      <vt:lpstr>Arial</vt:lpstr>
      <vt:lpstr>Office 主题​​</vt:lpstr>
      <vt:lpstr>x86 Pwn 入门</vt:lpstr>
      <vt:lpstr>基础</vt:lpstr>
      <vt:lpstr>Pwn?</vt:lpstr>
      <vt:lpstr>内存破坏漏洞</vt:lpstr>
      <vt:lpstr>提纲</vt:lpstr>
      <vt:lpstr>计算机编程语言</vt:lpstr>
      <vt:lpstr>计算机编程语言</vt:lpstr>
      <vt:lpstr>历史的进程</vt:lpstr>
      <vt:lpstr>x86-64</vt:lpstr>
      <vt:lpstr>x86-64 通用寄存器</vt:lpstr>
      <vt:lpstr>栈 (stack)</vt:lpstr>
      <vt:lpstr>例子 函数调用</vt:lpstr>
      <vt:lpstr>栈溢出</vt:lpstr>
      <vt:lpstr>实操 —— 自己写 bug 自己打</vt:lpstr>
      <vt:lpstr>工具 IDA 基础使用</vt:lpstr>
      <vt:lpstr>工具 pwntools 基础使用</vt:lpstr>
      <vt:lpstr>工具 gdb+pwndbg 基础使用</vt:lpstr>
      <vt:lpstr>实操 —— 自己写 bug 自己打</vt:lpstr>
      <vt:lpstr>思考</vt:lpstr>
      <vt:lpstr>安全机制</vt:lpstr>
      <vt:lpstr>安全机制 PIE</vt:lpstr>
      <vt:lpstr>安全机制 Canary</vt:lpstr>
      <vt:lpstr>安全机制 常见绕过方式</vt:lpstr>
      <vt:lpstr>ROP</vt:lpstr>
      <vt:lpstr>ROP（Return Oriented Programming） 原理</vt:lpstr>
      <vt:lpstr>ROP 原理</vt:lpstr>
      <vt:lpstr>ROP 原理</vt:lpstr>
      <vt:lpstr>ROP 原理</vt:lpstr>
      <vt:lpstr>ROP 原理</vt:lpstr>
      <vt:lpstr>ROP gadget 寻找</vt:lpstr>
      <vt:lpstr>x86-32 和 x86-64</vt:lpstr>
      <vt:lpstr>x86-32 pwn 和 x86-64 pwn</vt:lpstr>
      <vt:lpstr>x86-32 pwn 和 x86-64 pwn 练习</vt:lpstr>
      <vt:lpstr>ret2syscall x86-64</vt:lpstr>
      <vt:lpstr>ret2syscall x86-32</vt:lpstr>
      <vt:lpstr>ret2syscall 练习</vt:lpstr>
      <vt:lpstr>动态链接</vt:lpstr>
      <vt:lpstr>plt与got</vt:lpstr>
      <vt:lpstr>plt与got</vt:lpstr>
      <vt:lpstr>plt与got</vt:lpstr>
      <vt:lpstr>ret2libc 原理</vt:lpstr>
      <vt:lpstr>ret2libc 步骤1. 泄露 libc 基址</vt:lpstr>
      <vt:lpstr>ret2libc 步骤2. 获取 libc 文件</vt:lpstr>
      <vt:lpstr>ret2libc 步骤3. 利用 libc 完成攻击</vt:lpstr>
      <vt:lpstr>ret2libc 练习</vt:lpstr>
      <vt:lpstr>整数溢出</vt:lpstr>
      <vt:lpstr>格式化字符串</vt:lpstr>
      <vt:lpstr>参数传递方法</vt:lpstr>
      <vt:lpstr>格式化字符串</vt:lpstr>
      <vt:lpstr>格式化字符串</vt:lpstr>
      <vt:lpstr>利用</vt:lpstr>
      <vt:lpstr>利用</vt:lpstr>
      <vt:lpstr>利用</vt:lpstr>
      <vt:lpstr>练习题</vt:lpstr>
      <vt:lpstr>堆</vt:lpstr>
      <vt:lpstr>PowerPoint 演示文稿</vt:lpstr>
      <vt:lpstr>练习题</vt:lpstr>
      <vt:lpstr>参考资料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x86 Pwn 入门</dc:title>
  <dc:creator>dylanyang</dc:creator>
  <cp:lastModifiedBy>chenzm17@mails.tsinghua.edu.cn</cp:lastModifiedBy>
  <cp:revision>3</cp:revision>
  <cp:lastPrinted>2023-09-12T15:22:11Z</cp:lastPrinted>
  <dcterms:created xsi:type="dcterms:W3CDTF">2023-03-20T06:50:17Z</dcterms:created>
  <dcterms:modified xsi:type="dcterms:W3CDTF">2023-09-12T15:54:25Z</dcterms:modified>
</cp:coreProperties>
</file>