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90" r:id="rId3"/>
    <p:sldId id="267" r:id="rId5"/>
    <p:sldId id="292" r:id="rId6"/>
    <p:sldId id="291" r:id="rId7"/>
  </p:sldIdLst>
  <p:sldSz cx="12192000" cy="6858000"/>
  <p:notesSz cx="6858000" cy="9144000"/>
  <p:embeddedFontLst>
    <p:embeddedFont>
      <p:font typeface="微软雅黑" pitchFamily="34" charset="-122"/>
      <p:regular r:id="rId12"/>
    </p:embeddedFont>
    <p:embeddedFont>
      <p:font typeface="等线" charset="-122"/>
      <p:regular r:id="rId1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3952" userDrawn="1">
          <p15:clr>
            <a:srgbClr val="A4A3A4"/>
          </p15:clr>
        </p15:guide>
        <p15:guide id="6" orient="horz" pos="799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0C6E"/>
    <a:srgbClr val="650873"/>
    <a:srgbClr val="660874"/>
    <a:srgbClr val="F09AE0"/>
    <a:srgbClr val="C910E2"/>
    <a:srgbClr val="AF1B93"/>
    <a:srgbClr val="7C2E9C"/>
    <a:srgbClr val="FFFFFF"/>
    <a:srgbClr val="345AA3"/>
    <a:srgbClr val="579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5" autoAdjust="0"/>
    <p:restoredTop sz="92157" autoAdjust="0"/>
  </p:normalViewPr>
  <p:slideViewPr>
    <p:cSldViewPr snapToGrid="0" showGuides="1">
      <p:cViewPr varScale="1">
        <p:scale>
          <a:sx n="106" d="100"/>
          <a:sy n="106" d="100"/>
        </p:scale>
        <p:origin x="970" y="72"/>
      </p:cViewPr>
      <p:guideLst>
        <p:guide orient="horz" pos="2137"/>
        <p:guide pos="3840"/>
        <p:guide pos="551"/>
        <p:guide pos="7129"/>
        <p:guide orient="horz" pos="3952"/>
        <p:guide orient="horz" pos="799"/>
        <p:guide orient="horz" pos="504"/>
        <p:guide orient="horz" pos="2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4114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B26DA-F19B-42C3-9D62-BE995E01EC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CDC98-E8A4-42DC-A9BC-5E606F3C7E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38005-7AD1-42D4-BAAA-B310C6DDB9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CB6FC-3BC6-4C79-A238-E099BEC3214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为响应国家网络空间安全的战略需求，提供更多的土壤吸引和培养网络安全人才，自 </a:t>
            </a:r>
            <a:r>
              <a:rPr lang="en-US" altLang="zh-CN" dirty="0"/>
              <a:t>2016 </a:t>
            </a:r>
            <a:r>
              <a:rPr lang="zh-CN" altLang="en-US" dirty="0"/>
              <a:t>年起清华大学学生网络安全技术协会举办了</a:t>
            </a:r>
            <a:r>
              <a:rPr lang="en-US" altLang="zh-CN" dirty="0"/>
              <a:t>THUCTF</a:t>
            </a:r>
            <a:r>
              <a:rPr lang="zh-CN" altLang="en-US" dirty="0"/>
              <a:t>大赛，“以赛促学，以赛促教”是该项比赛的主要目标。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CB6FC-3BC6-4C79-A238-E099BEC321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CB6FC-3BC6-4C79-A238-E099BEC321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CB6FC-3BC6-4C79-A238-E099BEC321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CB6FC-3BC6-4C79-A238-E099BEC321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876-1743-4B8B-AC19-04990D475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07D90-DA7D-4C46-BEBE-E688275E9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538969" y="2366285"/>
            <a:ext cx="2582863" cy="162877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4876575" y="2366285"/>
            <a:ext cx="2582863" cy="162877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112580" y="2366285"/>
            <a:ext cx="2582863" cy="162877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>
            <a:spLocks noGrp="1"/>
          </p:cNvSpPr>
          <p:nvPr>
            <p:ph type="pic" sz="quarter" idx="10"/>
          </p:nvPr>
        </p:nvSpPr>
        <p:spPr>
          <a:xfrm>
            <a:off x="2" y="477466"/>
            <a:ext cx="4428247" cy="5854700"/>
          </a:xfrm>
          <a:custGeom>
            <a:avLst/>
            <a:gdLst>
              <a:gd name="connsiteX0" fmla="*/ 1500897 w 4428247"/>
              <a:gd name="connsiteY0" fmla="*/ 0 h 5854700"/>
              <a:gd name="connsiteX1" fmla="*/ 4428247 w 4428247"/>
              <a:gd name="connsiteY1" fmla="*/ 2927350 h 5854700"/>
              <a:gd name="connsiteX2" fmla="*/ 1500897 w 4428247"/>
              <a:gd name="connsiteY2" fmla="*/ 5854700 h 5854700"/>
              <a:gd name="connsiteX3" fmla="*/ 105548 w 4428247"/>
              <a:gd name="connsiteY3" fmla="*/ 5501385 h 5854700"/>
              <a:gd name="connsiteX4" fmla="*/ 0 w 4428247"/>
              <a:gd name="connsiteY4" fmla="*/ 5437263 h 5854700"/>
              <a:gd name="connsiteX5" fmla="*/ 0 w 4428247"/>
              <a:gd name="connsiteY5" fmla="*/ 417437 h 5854700"/>
              <a:gd name="connsiteX6" fmla="*/ 105548 w 4428247"/>
              <a:gd name="connsiteY6" fmla="*/ 353315 h 5854700"/>
              <a:gd name="connsiteX7" fmla="*/ 1500897 w 4428247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8247" h="5854700">
                <a:moveTo>
                  <a:pt x="1500897" y="0"/>
                </a:moveTo>
                <a:cubicBezTo>
                  <a:pt x="3117628" y="0"/>
                  <a:pt x="4428247" y="1310619"/>
                  <a:pt x="4428247" y="2927350"/>
                </a:cubicBezTo>
                <a:cubicBezTo>
                  <a:pt x="4428247" y="4544081"/>
                  <a:pt x="3117628" y="5854700"/>
                  <a:pt x="1500897" y="5854700"/>
                </a:cubicBezTo>
                <a:cubicBezTo>
                  <a:pt x="995669" y="5854700"/>
                  <a:pt x="520334" y="5726710"/>
                  <a:pt x="105548" y="5501385"/>
                </a:cubicBezTo>
                <a:lnTo>
                  <a:pt x="0" y="5437263"/>
                </a:lnTo>
                <a:lnTo>
                  <a:pt x="0" y="417437"/>
                </a:lnTo>
                <a:lnTo>
                  <a:pt x="105548" y="353315"/>
                </a:lnTo>
                <a:cubicBezTo>
                  <a:pt x="520334" y="127990"/>
                  <a:pt x="995669" y="0"/>
                  <a:pt x="15008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9427" y="0"/>
            <a:ext cx="12173149" cy="3177004"/>
          </a:xfrm>
          <a:custGeom>
            <a:avLst/>
            <a:gdLst>
              <a:gd name="connsiteX0" fmla="*/ 0 w 12173149"/>
              <a:gd name="connsiteY0" fmla="*/ 0 h 3177004"/>
              <a:gd name="connsiteX1" fmla="*/ 12173149 w 12173149"/>
              <a:gd name="connsiteY1" fmla="*/ 0 h 3177004"/>
              <a:gd name="connsiteX2" fmla="*/ 12173149 w 12173149"/>
              <a:gd name="connsiteY2" fmla="*/ 902797 h 3177004"/>
              <a:gd name="connsiteX3" fmla="*/ 0 w 12173149"/>
              <a:gd name="connsiteY3" fmla="*/ 902797 h 317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3149" h="3177004">
                <a:moveTo>
                  <a:pt x="0" y="0"/>
                </a:moveTo>
                <a:lnTo>
                  <a:pt x="12173149" y="0"/>
                </a:lnTo>
                <a:lnTo>
                  <a:pt x="12173149" y="902797"/>
                </a:lnTo>
                <a:cubicBezTo>
                  <a:pt x="9436634" y="3321131"/>
                  <a:pt x="4260670" y="4492927"/>
                  <a:pt x="0" y="90279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279711" y="0"/>
            <a:ext cx="11633546" cy="2047999"/>
          </a:xfrm>
          <a:custGeom>
            <a:avLst/>
            <a:gdLst>
              <a:gd name="connsiteX0" fmla="*/ 0 w 11633546"/>
              <a:gd name="connsiteY0" fmla="*/ 0 h 2047999"/>
              <a:gd name="connsiteX1" fmla="*/ 11633546 w 11633546"/>
              <a:gd name="connsiteY1" fmla="*/ 0 h 2047999"/>
              <a:gd name="connsiteX2" fmla="*/ 11364130 w 11633546"/>
              <a:gd name="connsiteY2" fmla="*/ 208920 h 2047999"/>
              <a:gd name="connsiteX3" fmla="*/ 116472 w 11633546"/>
              <a:gd name="connsiteY3" fmla="*/ 93501 h 204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33546" h="2047999">
                <a:moveTo>
                  <a:pt x="0" y="0"/>
                </a:moveTo>
                <a:lnTo>
                  <a:pt x="11633546" y="0"/>
                </a:lnTo>
                <a:lnTo>
                  <a:pt x="11364130" y="208920"/>
                </a:lnTo>
                <a:cubicBezTo>
                  <a:pt x="8615445" y="2250037"/>
                  <a:pt x="4032633" y="3085074"/>
                  <a:pt x="116472" y="9350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-1355075" y="661012"/>
            <a:ext cx="1057620" cy="1057619"/>
          </a:xfrm>
          <a:prstGeom prst="rect">
            <a:avLst/>
          </a:prstGeom>
          <a:solidFill>
            <a:srgbClr val="66087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876-1743-4B8B-AC19-04990D475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07D90-DA7D-4C46-BEBE-E688275E9901}" type="slidenum">
              <a:rPr lang="zh-CN" altLang="en-US" smtClean="0"/>
            </a:fld>
            <a:endParaRPr lang="zh-CN" alt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3361877" y="4952788"/>
            <a:ext cx="5468246" cy="1905212"/>
          </a:xfrm>
          <a:custGeom>
            <a:avLst/>
            <a:gdLst>
              <a:gd name="connsiteX0" fmla="*/ 2734123 w 5468246"/>
              <a:gd name="connsiteY0" fmla="*/ 0 h 1905212"/>
              <a:gd name="connsiteX1" fmla="*/ 5423347 w 5468246"/>
              <a:gd name="connsiteY1" fmla="*/ 1782537 h 1905212"/>
              <a:gd name="connsiteX2" fmla="*/ 5468246 w 5468246"/>
              <a:gd name="connsiteY2" fmla="*/ 1905212 h 1905212"/>
              <a:gd name="connsiteX3" fmla="*/ 0 w 5468246"/>
              <a:gd name="connsiteY3" fmla="*/ 1905212 h 1905212"/>
              <a:gd name="connsiteX4" fmla="*/ 44900 w 5468246"/>
              <a:gd name="connsiteY4" fmla="*/ 1782537 h 1905212"/>
              <a:gd name="connsiteX5" fmla="*/ 2734123 w 5468246"/>
              <a:gd name="connsiteY5" fmla="*/ 0 h 190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68246" h="1905212">
                <a:moveTo>
                  <a:pt x="2734123" y="0"/>
                </a:moveTo>
                <a:cubicBezTo>
                  <a:pt x="3943039" y="0"/>
                  <a:pt x="4980282" y="735015"/>
                  <a:pt x="5423347" y="1782537"/>
                </a:cubicBezTo>
                <a:lnTo>
                  <a:pt x="5468246" y="1905212"/>
                </a:lnTo>
                <a:lnTo>
                  <a:pt x="0" y="1905212"/>
                </a:lnTo>
                <a:lnTo>
                  <a:pt x="44900" y="1782537"/>
                </a:lnTo>
                <a:cubicBezTo>
                  <a:pt x="487964" y="735015"/>
                  <a:pt x="1525208" y="0"/>
                  <a:pt x="273412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876-1743-4B8B-AC19-04990D475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07D90-DA7D-4C46-BEBE-E688275E9901}" type="slidenum">
              <a:rPr lang="zh-CN" altLang="en-US" smtClean="0"/>
            </a:fld>
            <a:endParaRPr lang="zh-CN" alt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558771" y="1"/>
            <a:ext cx="6613988" cy="6607413"/>
          </a:xfrm>
          <a:custGeom>
            <a:avLst/>
            <a:gdLst>
              <a:gd name="connsiteX0" fmla="*/ 0 w 6613988"/>
              <a:gd name="connsiteY0" fmla="*/ 0 h 6607413"/>
              <a:gd name="connsiteX1" fmla="*/ 3418234 w 6613988"/>
              <a:gd name="connsiteY1" fmla="*/ 0 h 6607413"/>
              <a:gd name="connsiteX2" fmla="*/ 3434394 w 6613988"/>
              <a:gd name="connsiteY2" fmla="*/ 320036 h 6607413"/>
              <a:gd name="connsiteX3" fmla="*/ 6613988 w 6613988"/>
              <a:gd name="connsiteY3" fmla="*/ 3189348 h 6607413"/>
              <a:gd name="connsiteX4" fmla="*/ 6613988 w 6613988"/>
              <a:gd name="connsiteY4" fmla="*/ 6607413 h 6607413"/>
              <a:gd name="connsiteX5" fmla="*/ 8436 w 6613988"/>
              <a:gd name="connsiteY5" fmla="*/ 333618 h 660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988" h="6607413">
                <a:moveTo>
                  <a:pt x="0" y="0"/>
                </a:moveTo>
                <a:lnTo>
                  <a:pt x="3418234" y="0"/>
                </a:lnTo>
                <a:lnTo>
                  <a:pt x="3434394" y="320036"/>
                </a:lnTo>
                <a:cubicBezTo>
                  <a:pt x="3598066" y="1931686"/>
                  <a:pt x="4959155" y="3189348"/>
                  <a:pt x="6613988" y="3189348"/>
                </a:cubicBezTo>
                <a:lnTo>
                  <a:pt x="6613988" y="6607413"/>
                </a:lnTo>
                <a:cubicBezTo>
                  <a:pt x="3075241" y="6607413"/>
                  <a:pt x="185584" y="3828340"/>
                  <a:pt x="8436" y="33361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6577428" y="1676399"/>
            <a:ext cx="4431856" cy="4431854"/>
          </a:xfrm>
          <a:custGeom>
            <a:avLst/>
            <a:gdLst>
              <a:gd name="connsiteX0" fmla="*/ 0 w 4431856"/>
              <a:gd name="connsiteY0" fmla="*/ 2215926 h 4431854"/>
              <a:gd name="connsiteX1" fmla="*/ 0 w 4431856"/>
              <a:gd name="connsiteY1" fmla="*/ 2215927 h 4431854"/>
              <a:gd name="connsiteX2" fmla="*/ 0 w 4431856"/>
              <a:gd name="connsiteY2" fmla="*/ 2215927 h 4431854"/>
              <a:gd name="connsiteX3" fmla="*/ 2215927 w 4431856"/>
              <a:gd name="connsiteY3" fmla="*/ 0 h 4431854"/>
              <a:gd name="connsiteX4" fmla="*/ 2215929 w 4431856"/>
              <a:gd name="connsiteY4" fmla="*/ 0 h 4431854"/>
              <a:gd name="connsiteX5" fmla="*/ 4431856 w 4431856"/>
              <a:gd name="connsiteY5" fmla="*/ 2215927 h 4431854"/>
              <a:gd name="connsiteX6" fmla="*/ 4431855 w 4431856"/>
              <a:gd name="connsiteY6" fmla="*/ 2215927 h 4431854"/>
              <a:gd name="connsiteX7" fmla="*/ 2215928 w 4431856"/>
              <a:gd name="connsiteY7" fmla="*/ 4431854 h 4431854"/>
              <a:gd name="connsiteX8" fmla="*/ 2215927 w 4431856"/>
              <a:gd name="connsiteY8" fmla="*/ 4431853 h 4431854"/>
              <a:gd name="connsiteX9" fmla="*/ 11441 w 4431856"/>
              <a:gd name="connsiteY9" fmla="*/ 2442492 h 4431854"/>
              <a:gd name="connsiteX10" fmla="*/ 0 w 4431856"/>
              <a:gd name="connsiteY10" fmla="*/ 2215927 h 4431854"/>
              <a:gd name="connsiteX11" fmla="*/ 11441 w 4431856"/>
              <a:gd name="connsiteY11" fmla="*/ 1989361 h 4431854"/>
              <a:gd name="connsiteX12" fmla="*/ 2215927 w 4431856"/>
              <a:gd name="connsiteY12" fmla="*/ 0 h 4431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31856" h="4431854">
                <a:moveTo>
                  <a:pt x="0" y="2215926"/>
                </a:moveTo>
                <a:lnTo>
                  <a:pt x="0" y="2215927"/>
                </a:lnTo>
                <a:lnTo>
                  <a:pt x="0" y="2215927"/>
                </a:lnTo>
                <a:close/>
                <a:moveTo>
                  <a:pt x="2215927" y="0"/>
                </a:moveTo>
                <a:lnTo>
                  <a:pt x="2215929" y="0"/>
                </a:lnTo>
                <a:cubicBezTo>
                  <a:pt x="3439752" y="0"/>
                  <a:pt x="4431856" y="992104"/>
                  <a:pt x="4431856" y="2215927"/>
                </a:cubicBezTo>
                <a:lnTo>
                  <a:pt x="4431855" y="2215927"/>
                </a:lnTo>
                <a:cubicBezTo>
                  <a:pt x="4431855" y="3439750"/>
                  <a:pt x="3439751" y="4431854"/>
                  <a:pt x="2215928" y="4431854"/>
                </a:cubicBezTo>
                <a:lnTo>
                  <a:pt x="2215927" y="4431853"/>
                </a:lnTo>
                <a:cubicBezTo>
                  <a:pt x="1068593" y="4431853"/>
                  <a:pt x="124919" y="3559887"/>
                  <a:pt x="11441" y="2442492"/>
                </a:cubicBezTo>
                <a:lnTo>
                  <a:pt x="0" y="2215927"/>
                </a:lnTo>
                <a:lnTo>
                  <a:pt x="11441" y="1989361"/>
                </a:lnTo>
                <a:cubicBezTo>
                  <a:pt x="124919" y="871967"/>
                  <a:pt x="1068593" y="0"/>
                  <a:pt x="221592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4367753" y="1702194"/>
            <a:ext cx="3456494" cy="345361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247041" cy="4366380"/>
          </a:xfrm>
          <a:custGeom>
            <a:avLst/>
            <a:gdLst>
              <a:gd name="connsiteX0" fmla="*/ 0 w 4247041"/>
              <a:gd name="connsiteY0" fmla="*/ 0 h 4366380"/>
              <a:gd name="connsiteX1" fmla="*/ 3860380 w 4247041"/>
              <a:gd name="connsiteY1" fmla="*/ 0 h 4366380"/>
              <a:gd name="connsiteX2" fmla="*/ 3894784 w 4247041"/>
              <a:gd name="connsiteY2" fmla="*/ 56632 h 4366380"/>
              <a:gd name="connsiteX3" fmla="*/ 4247041 w 4247041"/>
              <a:gd name="connsiteY3" fmla="*/ 1447800 h 4366380"/>
              <a:gd name="connsiteX4" fmla="*/ 4247040 w 4247041"/>
              <a:gd name="connsiteY4" fmla="*/ 1447800 h 4366380"/>
              <a:gd name="connsiteX5" fmla="*/ 1328460 w 4247041"/>
              <a:gd name="connsiteY5" fmla="*/ 4366380 h 4366380"/>
              <a:gd name="connsiteX6" fmla="*/ 1328461 w 4247041"/>
              <a:gd name="connsiteY6" fmla="*/ 4366379 h 4366380"/>
              <a:gd name="connsiteX7" fmla="*/ 192418 w 4247041"/>
              <a:gd name="connsiteY7" fmla="*/ 4137023 h 4366380"/>
              <a:gd name="connsiteX8" fmla="*/ 0 w 4247041"/>
              <a:gd name="connsiteY8" fmla="*/ 4044330 h 436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47041" h="4366380">
                <a:moveTo>
                  <a:pt x="0" y="0"/>
                </a:moveTo>
                <a:lnTo>
                  <a:pt x="3860380" y="0"/>
                </a:lnTo>
                <a:lnTo>
                  <a:pt x="3894784" y="56632"/>
                </a:lnTo>
                <a:cubicBezTo>
                  <a:pt x="4119435" y="470175"/>
                  <a:pt x="4247041" y="944086"/>
                  <a:pt x="4247041" y="1447800"/>
                </a:cubicBezTo>
                <a:lnTo>
                  <a:pt x="4247040" y="1447800"/>
                </a:lnTo>
                <a:cubicBezTo>
                  <a:pt x="4247040" y="3059687"/>
                  <a:pt x="2940347" y="4366380"/>
                  <a:pt x="1328460" y="4366380"/>
                </a:cubicBezTo>
                <a:lnTo>
                  <a:pt x="1328461" y="4366379"/>
                </a:lnTo>
                <a:cubicBezTo>
                  <a:pt x="925490" y="4366379"/>
                  <a:pt x="541592" y="4284711"/>
                  <a:pt x="192418" y="4137023"/>
                </a:cubicBezTo>
                <a:lnTo>
                  <a:pt x="0" y="40443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3962400" y="1957065"/>
            <a:ext cx="4267200" cy="4267200"/>
          </a:xfrm>
          <a:custGeom>
            <a:avLst/>
            <a:gdLst>
              <a:gd name="connsiteX0" fmla="*/ 2133600 w 4267200"/>
              <a:gd name="connsiteY0" fmla="*/ 0 h 4267200"/>
              <a:gd name="connsiteX1" fmla="*/ 4267200 w 4267200"/>
              <a:gd name="connsiteY1" fmla="*/ 2133600 h 4267200"/>
              <a:gd name="connsiteX2" fmla="*/ 2133600 w 4267200"/>
              <a:gd name="connsiteY2" fmla="*/ 4267200 h 4267200"/>
              <a:gd name="connsiteX3" fmla="*/ 0 w 4267200"/>
              <a:gd name="connsiteY3" fmla="*/ 21336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7200" h="4267200">
                <a:moveTo>
                  <a:pt x="2133600" y="0"/>
                </a:moveTo>
                <a:lnTo>
                  <a:pt x="4267200" y="2133600"/>
                </a:lnTo>
                <a:lnTo>
                  <a:pt x="2133600" y="426720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outerShdw blurRad="317500" dist="76200" dir="2700000" algn="tl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lang="en-US"/>
            </a:lvl1pPr>
          </a:lstStyle>
          <a:p>
            <a:pPr marL="0" lvl="0" indent="0">
              <a:buNone/>
            </a:pPr>
            <a:r>
              <a:rPr lang="en-US" dirty="0"/>
              <a:t>Add Picture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1876-1743-4B8B-AC19-04990D475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07D90-DA7D-4C46-BEBE-E688275E99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B1876-1743-4B8B-AC19-04990D475E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07D90-DA7D-4C46-BEBE-E688275E9901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355075" y="661012"/>
            <a:ext cx="1057620" cy="1057619"/>
          </a:xfrm>
          <a:prstGeom prst="rect">
            <a:avLst/>
          </a:prstGeom>
          <a:solidFill>
            <a:srgbClr val="66087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8.xml"/><Relationship Id="rId12" Type="http://schemas.openxmlformats.org/officeDocument/2006/relationships/image" Target="../media/image12.png"/><Relationship Id="rId11" Type="http://schemas.openxmlformats.org/officeDocument/2006/relationships/image" Target="../media/image11.GIF"/><Relationship Id="rId10" Type="http://schemas.openxmlformats.org/officeDocument/2006/relationships/image" Target="../media/image10.sv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8.xml"/><Relationship Id="rId14" Type="http://schemas.openxmlformats.org/officeDocument/2006/relationships/image" Target="../media/image25.png"/><Relationship Id="rId13" Type="http://schemas.openxmlformats.org/officeDocument/2006/relationships/image" Target="../media/image24.svg"/><Relationship Id="rId12" Type="http://schemas.openxmlformats.org/officeDocument/2006/relationships/image" Target="../media/image23.png"/><Relationship Id="rId11" Type="http://schemas.openxmlformats.org/officeDocument/2006/relationships/image" Target="../media/image22.svg"/><Relationship Id="rId10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26" t="26827" r="-315" b="51189"/>
          <a:stretch>
            <a:fillRect/>
          </a:stretch>
        </p:blipFill>
        <p:spPr>
          <a:xfrm flipH="1">
            <a:off x="-1520191" y="1164346"/>
            <a:ext cx="8961740" cy="1415367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1282483" y="266308"/>
            <a:ext cx="7008650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清华大学网络安全技术挑战赛（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THUCTF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）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方正清刻本悦宋简体" panose="02000000000000000000" pitchFamily="2" charset="-122"/>
              <a:cs typeface="Arial" panose="020B0704020202020204" pitchFamily="3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1282483" y="800099"/>
            <a:ext cx="10034804" cy="0"/>
          </a:xfrm>
          <a:prstGeom prst="line">
            <a:avLst/>
          </a:prstGeom>
          <a:ln>
            <a:solidFill>
              <a:srgbClr val="6608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形 42" descr="毕业帽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162" y="173829"/>
            <a:ext cx="748371" cy="748371"/>
          </a:xfrm>
          <a:prstGeom prst="rect">
            <a:avLst/>
          </a:prstGeom>
        </p:spPr>
      </p:pic>
      <p:grpSp>
        <p:nvGrpSpPr>
          <p:cNvPr id="65" name="组合 64"/>
          <p:cNvGrpSpPr>
            <a:grpSpLocks noChangeAspect="1"/>
          </p:cNvGrpSpPr>
          <p:nvPr/>
        </p:nvGrpSpPr>
        <p:grpSpPr>
          <a:xfrm>
            <a:off x="10224896" y="212521"/>
            <a:ext cx="1689291" cy="508374"/>
            <a:chOff x="2685028" y="2876682"/>
            <a:chExt cx="5502784" cy="1656004"/>
          </a:xfrm>
        </p:grpSpPr>
        <p:sp>
          <p:nvSpPr>
            <p:cNvPr id="66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sp>
          <p:nvSpPr>
            <p:cNvPr id="67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pic>
          <p:nvPicPr>
            <p:cNvPr id="68" name="图片 6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6827" r="40487" b="51189"/>
          <a:stretch>
            <a:fillRect/>
          </a:stretch>
        </p:blipFill>
        <p:spPr>
          <a:xfrm>
            <a:off x="7075672" y="1169698"/>
            <a:ext cx="5116328" cy="1415367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>
            <a:off x="0" y="1174914"/>
            <a:ext cx="17470877" cy="1415367"/>
          </a:xfrm>
          <a:prstGeom prst="rect">
            <a:avLst/>
          </a:prstGeom>
          <a:gradFill flip="none" rotWithShape="1">
            <a:gsLst>
              <a:gs pos="0">
                <a:srgbClr val="660874"/>
              </a:gs>
              <a:gs pos="49000">
                <a:srgbClr val="660874">
                  <a:alpha val="85000"/>
                </a:srgbClr>
              </a:gs>
              <a:gs pos="81000">
                <a:srgbClr val="660874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704020202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09510" y="1275878"/>
            <a:ext cx="10044890" cy="1169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清华大学网络安全技术挑战赛（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THUCTF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）是由学校信息办和网络研究院共同指导，学生网络安全技术协会主办， 面向全校对网络安全技术感兴趣，不同院系专业学生参与的大学生学术科技赛事，于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2016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年开始举办，至今已成功举办七届。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t="8712" r="5" b="7926"/>
          <a:stretch>
            <a:fillRect/>
          </a:stretch>
        </p:blipFill>
        <p:spPr>
          <a:xfrm>
            <a:off x="7276763" y="5472937"/>
            <a:ext cx="2275780" cy="1264797"/>
          </a:xfrm>
          <a:prstGeom prst="rect">
            <a:avLst/>
          </a:prstGeom>
          <a:effectLst>
            <a:outerShdw blurRad="127000" dist="38100" dir="2700000" algn="ctr" rotWithShape="0">
              <a:sysClr val="windowText" lastClr="000000">
                <a:alpha val="40000"/>
              </a:sysClr>
            </a:outerShdw>
          </a:effectLst>
        </p:spPr>
      </p:pic>
      <p:sp>
        <p:nvSpPr>
          <p:cNvPr id="88" name="矩形: 圆角 87"/>
          <p:cNvSpPr/>
          <p:nvPr/>
        </p:nvSpPr>
        <p:spPr>
          <a:xfrm>
            <a:off x="7189542" y="2866619"/>
            <a:ext cx="4742695" cy="1178808"/>
          </a:xfrm>
          <a:prstGeom prst="roundRect">
            <a:avLst>
              <a:gd name="adj" fmla="val 8717"/>
            </a:avLst>
          </a:prstGeom>
          <a:solidFill>
            <a:sysClr val="window" lastClr="FFFFFF"/>
          </a:solidFill>
          <a:ln w="635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385914" y="3108133"/>
            <a:ext cx="130085" cy="342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00"/>
              </a:lnSpc>
              <a:defRPr/>
            </a:pPr>
            <a:endParaRPr lang="zh-CN" altLang="en-US" sz="2400" b="1" dirty="0">
              <a:gradFill flip="none" rotWithShape="1">
                <a:gsLst>
                  <a:gs pos="66000">
                    <a:srgbClr val="7D4DA1"/>
                  </a:gs>
                  <a:gs pos="0">
                    <a:srgbClr val="6E448F"/>
                  </a:gs>
                  <a:gs pos="100000">
                    <a:srgbClr val="2B2862"/>
                  </a:gs>
                </a:gsLst>
                <a:lin ang="0" scaled="1"/>
                <a:tileRect/>
              </a:gra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7211257" y="4164770"/>
            <a:ext cx="4742695" cy="1078303"/>
          </a:xfrm>
          <a:prstGeom prst="roundRect">
            <a:avLst>
              <a:gd name="adj" fmla="val 8717"/>
            </a:avLst>
          </a:prstGeom>
          <a:solidFill>
            <a:sysClr val="window" lastClr="FFFFFF"/>
          </a:solidFill>
          <a:ln w="635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7313406" y="3059163"/>
            <a:ext cx="777875" cy="777875"/>
          </a:xfrm>
          <a:prstGeom prst="ellipse">
            <a:avLst/>
          </a:prstGeom>
          <a:solidFill>
            <a:srgbClr val="70388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7312734" y="4306688"/>
            <a:ext cx="777875" cy="777875"/>
          </a:xfrm>
          <a:prstGeom prst="ellipse">
            <a:avLst/>
          </a:prstGeom>
          <a:solidFill>
            <a:srgbClr val="70388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3" name="Docer Falling Dust PPT demo 13"/>
          <p:cNvSpPr txBox="1"/>
          <p:nvPr/>
        </p:nvSpPr>
        <p:spPr>
          <a:xfrm>
            <a:off x="8192085" y="3293845"/>
            <a:ext cx="3515115" cy="616281"/>
          </a:xfrm>
          <a:prstGeom prst="rect">
            <a:avLst/>
          </a:prstGeom>
          <a:noFill/>
        </p:spPr>
        <p:txBody>
          <a:bodyPr wrap="square" lIns="94002" tIns="47001" rIns="94002" bIns="4700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引导更广泛学科专业范围内的学生对网络安全技术的学习兴趣，掌握基础的网络攻防技术技能。</a:t>
            </a:r>
            <a:endParaRPr lang="zh-CN" altLang="en-US" sz="1200" dirty="0">
              <a:solidFill>
                <a:srgbClr val="000000">
                  <a:lumMod val="50000"/>
                  <a:lumOff val="50000"/>
                </a:srgbClr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4" name="Docer Falling Dust PPT demo 12"/>
          <p:cNvSpPr txBox="1"/>
          <p:nvPr/>
        </p:nvSpPr>
        <p:spPr>
          <a:xfrm>
            <a:off x="8192085" y="2973805"/>
            <a:ext cx="1215762" cy="402697"/>
          </a:xfrm>
          <a:prstGeom prst="rect">
            <a:avLst/>
          </a:prstGeom>
          <a:solidFill>
            <a:srgbClr val="FFFFFF"/>
          </a:solidFill>
        </p:spPr>
        <p:txBody>
          <a:bodyPr wrap="none" lIns="94002" tIns="47001" rIns="94002" bIns="47001" rtlCol="0">
            <a:spAutoFit/>
          </a:bodyPr>
          <a:lstStyle/>
          <a:p>
            <a:pPr lvl="0">
              <a:defRPr/>
            </a:pPr>
            <a:r>
              <a:rPr lang="zh-CN" altLang="en-US" sz="2000" kern="0" dirty="0">
                <a:solidFill>
                  <a:srgbClr val="703881"/>
                </a:solidFill>
                <a:latin typeface="Arial" panose="020B0704020202020204"/>
                <a:ea typeface="微软雅黑" pitchFamily="34" charset="-122"/>
                <a:cs typeface="+mn-ea"/>
                <a:sym typeface="+mn-lt"/>
              </a:rPr>
              <a:t>以赛促学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703881"/>
              </a:solidFill>
              <a:effectLst/>
              <a:uLnTx/>
              <a:uFillTx/>
              <a:latin typeface="Arial" panose="020B0704020202020204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5" name="Docer Falling Dust PPT demo 13"/>
          <p:cNvSpPr txBox="1"/>
          <p:nvPr/>
        </p:nvSpPr>
        <p:spPr>
          <a:xfrm>
            <a:off x="8192085" y="4519730"/>
            <a:ext cx="3515115" cy="616585"/>
          </a:xfrm>
          <a:prstGeom prst="rect">
            <a:avLst/>
          </a:prstGeom>
          <a:noFill/>
        </p:spPr>
        <p:txBody>
          <a:bodyPr wrap="square" lIns="94002" tIns="47001" rIns="94002" bIns="4700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指导选课学生以个人名义组织或参与秋季学期举办的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THUCTF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赛事。</a:t>
            </a:r>
            <a:endParaRPr lang="zh-CN" altLang="en-US" sz="1200" dirty="0">
              <a:solidFill>
                <a:srgbClr val="000000">
                  <a:lumMod val="50000"/>
                  <a:lumOff val="50000"/>
                </a:srgbClr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6" name="Docer Falling Dust PPT demo 12"/>
          <p:cNvSpPr txBox="1"/>
          <p:nvPr/>
        </p:nvSpPr>
        <p:spPr>
          <a:xfrm>
            <a:off x="8192085" y="4199690"/>
            <a:ext cx="1215762" cy="402697"/>
          </a:xfrm>
          <a:prstGeom prst="rect">
            <a:avLst/>
          </a:prstGeom>
          <a:solidFill>
            <a:srgbClr val="FFFFFF"/>
          </a:solidFill>
        </p:spPr>
        <p:txBody>
          <a:bodyPr wrap="none" lIns="94002" tIns="47001" rIns="94002" bIns="47001" rtlCol="0">
            <a:spAutoFit/>
          </a:bodyPr>
          <a:lstStyle/>
          <a:p>
            <a:pPr lvl="0">
              <a:defRPr/>
            </a:pPr>
            <a:r>
              <a:rPr lang="zh-CN" altLang="en-US" sz="2000" kern="0" dirty="0">
                <a:solidFill>
                  <a:srgbClr val="703881"/>
                </a:solidFill>
                <a:latin typeface="Arial" panose="020B0704020202020204"/>
                <a:ea typeface="微软雅黑" pitchFamily="34" charset="-122"/>
                <a:cs typeface="+mn-ea"/>
                <a:sym typeface="+mn-lt"/>
              </a:rPr>
              <a:t>以赛促教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703881"/>
              </a:solidFill>
              <a:effectLst/>
              <a:uLnTx/>
              <a:uFillTx/>
              <a:latin typeface="Arial" panose="020B0704020202020204"/>
              <a:ea typeface="微软雅黑" pitchFamily="34" charset="-122"/>
              <a:cs typeface="+mn-ea"/>
              <a:sym typeface="+mn-lt"/>
            </a:endParaRPr>
          </a:p>
        </p:txBody>
      </p:sp>
      <p:pic>
        <p:nvPicPr>
          <p:cNvPr id="97" name="图形 96" descr="毕业帽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1920" y="4390362"/>
            <a:ext cx="614234" cy="614234"/>
          </a:xfrm>
          <a:prstGeom prst="rect">
            <a:avLst/>
          </a:prstGeom>
        </p:spPr>
      </p:pic>
      <p:pic>
        <p:nvPicPr>
          <p:cNvPr id="98" name="图形 97" descr="文凭卷筒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6171" y="3176003"/>
            <a:ext cx="590999" cy="590999"/>
          </a:xfrm>
          <a:prstGeom prst="rect">
            <a:avLst/>
          </a:prstGeom>
        </p:spPr>
      </p:pic>
      <p:grpSp>
        <p:nvGrpSpPr>
          <p:cNvPr id="118" name="组合 117"/>
          <p:cNvGrpSpPr/>
          <p:nvPr/>
        </p:nvGrpSpPr>
        <p:grpSpPr>
          <a:xfrm>
            <a:off x="3145534" y="4920042"/>
            <a:ext cx="898056" cy="936887"/>
            <a:chOff x="4687315" y="1592322"/>
            <a:chExt cx="2817370" cy="2939200"/>
          </a:xfrm>
        </p:grpSpPr>
        <p:sp>
          <p:nvSpPr>
            <p:cNvPr id="144" name="矩形 143"/>
            <p:cNvSpPr/>
            <p:nvPr/>
          </p:nvSpPr>
          <p:spPr>
            <a:xfrm rot="-4320000">
              <a:off x="4889455" y="2452319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45" name="矩形 144"/>
            <p:cNvSpPr/>
            <p:nvPr/>
          </p:nvSpPr>
          <p:spPr>
            <a:xfrm rot="-2160000">
              <a:off x="5341582" y="1830019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46" name="矩形 145"/>
            <p:cNvSpPr/>
            <p:nvPr/>
          </p:nvSpPr>
          <p:spPr>
            <a:xfrm>
              <a:off x="6073140" y="1592322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47" name="矩形 146"/>
            <p:cNvSpPr/>
            <p:nvPr/>
          </p:nvSpPr>
          <p:spPr>
            <a:xfrm rot="2160000">
              <a:off x="6804698" y="1830019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48" name="矩形 147"/>
            <p:cNvSpPr/>
            <p:nvPr/>
          </p:nvSpPr>
          <p:spPr>
            <a:xfrm rot="4320000">
              <a:off x="7256825" y="2452319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49" name="矩形 148"/>
            <p:cNvSpPr/>
            <p:nvPr/>
          </p:nvSpPr>
          <p:spPr>
            <a:xfrm rot="6480000">
              <a:off x="7256825" y="3221524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50" name="矩形 149"/>
            <p:cNvSpPr/>
            <p:nvPr/>
          </p:nvSpPr>
          <p:spPr>
            <a:xfrm rot="8640000">
              <a:off x="6804698" y="3843825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 rot="10800000">
              <a:off x="6073140" y="4081522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52" name="矩形 151"/>
            <p:cNvSpPr/>
            <p:nvPr/>
          </p:nvSpPr>
          <p:spPr>
            <a:xfrm rot="12960000">
              <a:off x="5341582" y="3843825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 rot="15120000">
              <a:off x="4889455" y="3221524"/>
              <a:ext cx="45720" cy="450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4444951" y="4204758"/>
            <a:ext cx="344128" cy="2319779"/>
            <a:chOff x="6559381" y="1600200"/>
            <a:chExt cx="595997" cy="4017641"/>
          </a:xfrm>
        </p:grpSpPr>
        <p:grpSp>
          <p:nvGrpSpPr>
            <p:cNvPr id="135" name="组合 134"/>
            <p:cNvGrpSpPr/>
            <p:nvPr/>
          </p:nvGrpSpPr>
          <p:grpSpPr>
            <a:xfrm>
              <a:off x="6559385" y="3339217"/>
              <a:ext cx="595993" cy="595992"/>
              <a:chOff x="6118125" y="3339217"/>
              <a:chExt cx="595993" cy="595992"/>
            </a:xfrm>
          </p:grpSpPr>
          <p:sp>
            <p:nvSpPr>
              <p:cNvPr id="142" name="椭圆 141"/>
              <p:cNvSpPr/>
              <p:nvPr/>
            </p:nvSpPr>
            <p:spPr>
              <a:xfrm>
                <a:off x="6118125" y="3339217"/>
                <a:ext cx="595993" cy="595992"/>
              </a:xfrm>
              <a:prstGeom prst="ellipse">
                <a:avLst/>
              </a:prstGeom>
              <a:solidFill>
                <a:srgbClr val="703881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 bwMode="auto">
              <a:xfrm>
                <a:off x="6304938" y="3567916"/>
                <a:ext cx="212129" cy="131945"/>
              </a:xfrm>
              <a:custGeom>
                <a:avLst/>
                <a:gdLst>
                  <a:gd name="connsiteX0" fmla="*/ 308536 w 331788"/>
                  <a:gd name="connsiteY0" fmla="*/ 66675 h 206375"/>
                  <a:gd name="connsiteX1" fmla="*/ 314995 w 331788"/>
                  <a:gd name="connsiteY1" fmla="*/ 66675 h 206375"/>
                  <a:gd name="connsiteX2" fmla="*/ 331788 w 331788"/>
                  <a:gd name="connsiteY2" fmla="*/ 83491 h 206375"/>
                  <a:gd name="connsiteX3" fmla="*/ 331788 w 331788"/>
                  <a:gd name="connsiteY3" fmla="*/ 189559 h 206375"/>
                  <a:gd name="connsiteX4" fmla="*/ 314995 w 331788"/>
                  <a:gd name="connsiteY4" fmla="*/ 206375 h 206375"/>
                  <a:gd name="connsiteX5" fmla="*/ 85056 w 331788"/>
                  <a:gd name="connsiteY5" fmla="*/ 206375 h 206375"/>
                  <a:gd name="connsiteX6" fmla="*/ 68263 w 331788"/>
                  <a:gd name="connsiteY6" fmla="*/ 189559 h 206375"/>
                  <a:gd name="connsiteX7" fmla="*/ 68263 w 331788"/>
                  <a:gd name="connsiteY7" fmla="*/ 183092 h 206375"/>
                  <a:gd name="connsiteX8" fmla="*/ 281408 w 331788"/>
                  <a:gd name="connsiteY8" fmla="*/ 183092 h 206375"/>
                  <a:gd name="connsiteX9" fmla="*/ 308536 w 331788"/>
                  <a:gd name="connsiteY9" fmla="*/ 155928 h 206375"/>
                  <a:gd name="connsiteX10" fmla="*/ 308536 w 331788"/>
                  <a:gd name="connsiteY10" fmla="*/ 66675 h 206375"/>
                  <a:gd name="connsiteX11" fmla="*/ 275059 w 331788"/>
                  <a:gd name="connsiteY11" fmla="*/ 33338 h 206375"/>
                  <a:gd name="connsiteX12" fmla="*/ 281557 w 331788"/>
                  <a:gd name="connsiteY12" fmla="*/ 33338 h 206375"/>
                  <a:gd name="connsiteX13" fmla="*/ 298451 w 331788"/>
                  <a:gd name="connsiteY13" fmla="*/ 50154 h 206375"/>
                  <a:gd name="connsiteX14" fmla="*/ 298451 w 331788"/>
                  <a:gd name="connsiteY14" fmla="*/ 156222 h 206375"/>
                  <a:gd name="connsiteX15" fmla="*/ 281557 w 331788"/>
                  <a:gd name="connsiteY15" fmla="*/ 173038 h 206375"/>
                  <a:gd name="connsiteX16" fmla="*/ 50232 w 331788"/>
                  <a:gd name="connsiteY16" fmla="*/ 173038 h 206375"/>
                  <a:gd name="connsiteX17" fmla="*/ 33338 w 331788"/>
                  <a:gd name="connsiteY17" fmla="*/ 156222 h 206375"/>
                  <a:gd name="connsiteX18" fmla="*/ 33338 w 331788"/>
                  <a:gd name="connsiteY18" fmla="*/ 149755 h 206375"/>
                  <a:gd name="connsiteX19" fmla="*/ 247768 w 331788"/>
                  <a:gd name="connsiteY19" fmla="*/ 149755 h 206375"/>
                  <a:gd name="connsiteX20" fmla="*/ 275059 w 331788"/>
                  <a:gd name="connsiteY20" fmla="*/ 122591 h 206375"/>
                  <a:gd name="connsiteX21" fmla="*/ 275059 w 331788"/>
                  <a:gd name="connsiteY21" fmla="*/ 33338 h 206375"/>
                  <a:gd name="connsiteX22" fmla="*/ 99109 w 331788"/>
                  <a:gd name="connsiteY22" fmla="*/ 21630 h 206375"/>
                  <a:gd name="connsiteX23" fmla="*/ 97823 w 331788"/>
                  <a:gd name="connsiteY23" fmla="*/ 22920 h 206375"/>
                  <a:gd name="connsiteX24" fmla="*/ 95250 w 331788"/>
                  <a:gd name="connsiteY24" fmla="*/ 28079 h 206375"/>
                  <a:gd name="connsiteX25" fmla="*/ 96536 w 331788"/>
                  <a:gd name="connsiteY25" fmla="*/ 31949 h 206375"/>
                  <a:gd name="connsiteX26" fmla="*/ 97823 w 331788"/>
                  <a:gd name="connsiteY26" fmla="*/ 33238 h 206375"/>
                  <a:gd name="connsiteX27" fmla="*/ 118406 w 331788"/>
                  <a:gd name="connsiteY27" fmla="*/ 66775 h 206375"/>
                  <a:gd name="connsiteX28" fmla="*/ 119692 w 331788"/>
                  <a:gd name="connsiteY28" fmla="*/ 68064 h 206375"/>
                  <a:gd name="connsiteX29" fmla="*/ 111974 w 331788"/>
                  <a:gd name="connsiteY29" fmla="*/ 68064 h 206375"/>
                  <a:gd name="connsiteX30" fmla="*/ 104255 w 331788"/>
                  <a:gd name="connsiteY30" fmla="*/ 75804 h 206375"/>
                  <a:gd name="connsiteX31" fmla="*/ 111974 w 331788"/>
                  <a:gd name="connsiteY31" fmla="*/ 83543 h 206375"/>
                  <a:gd name="connsiteX32" fmla="*/ 124838 w 331788"/>
                  <a:gd name="connsiteY32" fmla="*/ 83543 h 206375"/>
                  <a:gd name="connsiteX33" fmla="*/ 124838 w 331788"/>
                  <a:gd name="connsiteY33" fmla="*/ 89992 h 206375"/>
                  <a:gd name="connsiteX34" fmla="*/ 111974 w 331788"/>
                  <a:gd name="connsiteY34" fmla="*/ 89992 h 206375"/>
                  <a:gd name="connsiteX35" fmla="*/ 104255 w 331788"/>
                  <a:gd name="connsiteY35" fmla="*/ 97731 h 206375"/>
                  <a:gd name="connsiteX36" fmla="*/ 111974 w 331788"/>
                  <a:gd name="connsiteY36" fmla="*/ 105470 h 206375"/>
                  <a:gd name="connsiteX37" fmla="*/ 124838 w 331788"/>
                  <a:gd name="connsiteY37" fmla="*/ 105470 h 206375"/>
                  <a:gd name="connsiteX38" fmla="*/ 124838 w 331788"/>
                  <a:gd name="connsiteY38" fmla="*/ 114499 h 206375"/>
                  <a:gd name="connsiteX39" fmla="*/ 132557 w 331788"/>
                  <a:gd name="connsiteY39" fmla="*/ 122238 h 206375"/>
                  <a:gd name="connsiteX40" fmla="*/ 140275 w 331788"/>
                  <a:gd name="connsiteY40" fmla="*/ 114499 h 206375"/>
                  <a:gd name="connsiteX41" fmla="*/ 140275 w 331788"/>
                  <a:gd name="connsiteY41" fmla="*/ 105470 h 206375"/>
                  <a:gd name="connsiteX42" fmla="*/ 153139 w 331788"/>
                  <a:gd name="connsiteY42" fmla="*/ 105470 h 206375"/>
                  <a:gd name="connsiteX43" fmla="*/ 160858 w 331788"/>
                  <a:gd name="connsiteY43" fmla="*/ 97731 h 206375"/>
                  <a:gd name="connsiteX44" fmla="*/ 153139 w 331788"/>
                  <a:gd name="connsiteY44" fmla="*/ 89992 h 206375"/>
                  <a:gd name="connsiteX45" fmla="*/ 140275 w 331788"/>
                  <a:gd name="connsiteY45" fmla="*/ 89992 h 206375"/>
                  <a:gd name="connsiteX46" fmla="*/ 140275 w 331788"/>
                  <a:gd name="connsiteY46" fmla="*/ 83543 h 206375"/>
                  <a:gd name="connsiteX47" fmla="*/ 153139 w 331788"/>
                  <a:gd name="connsiteY47" fmla="*/ 83543 h 206375"/>
                  <a:gd name="connsiteX48" fmla="*/ 160858 w 331788"/>
                  <a:gd name="connsiteY48" fmla="*/ 75804 h 206375"/>
                  <a:gd name="connsiteX49" fmla="*/ 153139 w 331788"/>
                  <a:gd name="connsiteY49" fmla="*/ 68064 h 206375"/>
                  <a:gd name="connsiteX50" fmla="*/ 145421 w 331788"/>
                  <a:gd name="connsiteY50" fmla="*/ 68064 h 206375"/>
                  <a:gd name="connsiteX51" fmla="*/ 146707 w 331788"/>
                  <a:gd name="connsiteY51" fmla="*/ 66775 h 206375"/>
                  <a:gd name="connsiteX52" fmla="*/ 168577 w 331788"/>
                  <a:gd name="connsiteY52" fmla="*/ 33238 h 206375"/>
                  <a:gd name="connsiteX53" fmla="*/ 168577 w 331788"/>
                  <a:gd name="connsiteY53" fmla="*/ 31949 h 206375"/>
                  <a:gd name="connsiteX54" fmla="*/ 169863 w 331788"/>
                  <a:gd name="connsiteY54" fmla="*/ 28079 h 206375"/>
                  <a:gd name="connsiteX55" fmla="*/ 168577 w 331788"/>
                  <a:gd name="connsiteY55" fmla="*/ 22920 h 206375"/>
                  <a:gd name="connsiteX56" fmla="*/ 166004 w 331788"/>
                  <a:gd name="connsiteY56" fmla="*/ 21630 h 206375"/>
                  <a:gd name="connsiteX57" fmla="*/ 156999 w 331788"/>
                  <a:gd name="connsiteY57" fmla="*/ 22920 h 206375"/>
                  <a:gd name="connsiteX58" fmla="*/ 155712 w 331788"/>
                  <a:gd name="connsiteY58" fmla="*/ 22920 h 206375"/>
                  <a:gd name="connsiteX59" fmla="*/ 153139 w 331788"/>
                  <a:gd name="connsiteY59" fmla="*/ 28079 h 206375"/>
                  <a:gd name="connsiteX60" fmla="*/ 150567 w 331788"/>
                  <a:gd name="connsiteY60" fmla="*/ 33238 h 206375"/>
                  <a:gd name="connsiteX61" fmla="*/ 132557 w 331788"/>
                  <a:gd name="connsiteY61" fmla="*/ 60325 h 206375"/>
                  <a:gd name="connsiteX62" fmla="*/ 115833 w 331788"/>
                  <a:gd name="connsiteY62" fmla="*/ 33238 h 206375"/>
                  <a:gd name="connsiteX63" fmla="*/ 111974 w 331788"/>
                  <a:gd name="connsiteY63" fmla="*/ 28079 h 206375"/>
                  <a:gd name="connsiteX64" fmla="*/ 109401 w 331788"/>
                  <a:gd name="connsiteY64" fmla="*/ 22920 h 206375"/>
                  <a:gd name="connsiteX65" fmla="*/ 99109 w 331788"/>
                  <a:gd name="connsiteY65" fmla="*/ 21630 h 206375"/>
                  <a:gd name="connsiteX66" fmla="*/ 16894 w 331788"/>
                  <a:gd name="connsiteY66" fmla="*/ 0 h 206375"/>
                  <a:gd name="connsiteX67" fmla="*/ 248219 w 331788"/>
                  <a:gd name="connsiteY67" fmla="*/ 0 h 206375"/>
                  <a:gd name="connsiteX68" fmla="*/ 265113 w 331788"/>
                  <a:gd name="connsiteY68" fmla="*/ 16816 h 206375"/>
                  <a:gd name="connsiteX69" fmla="*/ 265113 w 331788"/>
                  <a:gd name="connsiteY69" fmla="*/ 122884 h 206375"/>
                  <a:gd name="connsiteX70" fmla="*/ 248219 w 331788"/>
                  <a:gd name="connsiteY70" fmla="*/ 139700 h 206375"/>
                  <a:gd name="connsiteX71" fmla="*/ 23392 w 331788"/>
                  <a:gd name="connsiteY71" fmla="*/ 139700 h 206375"/>
                  <a:gd name="connsiteX72" fmla="*/ 16894 w 331788"/>
                  <a:gd name="connsiteY72" fmla="*/ 139700 h 206375"/>
                  <a:gd name="connsiteX73" fmla="*/ 0 w 331788"/>
                  <a:gd name="connsiteY73" fmla="*/ 122884 h 206375"/>
                  <a:gd name="connsiteX74" fmla="*/ 0 w 331788"/>
                  <a:gd name="connsiteY74" fmla="*/ 16816 h 206375"/>
                  <a:gd name="connsiteX75" fmla="*/ 16894 w 331788"/>
                  <a:gd name="connsiteY75" fmla="*/ 0 h 20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</a:cxnLst>
                <a:rect l="l" t="t" r="r" b="b"/>
                <a:pathLst>
                  <a:path w="331788" h="206375">
                    <a:moveTo>
                      <a:pt x="308536" y="66675"/>
                    </a:moveTo>
                    <a:cubicBezTo>
                      <a:pt x="308536" y="66675"/>
                      <a:pt x="308536" y="66675"/>
                      <a:pt x="314995" y="66675"/>
                    </a:cubicBezTo>
                    <a:cubicBezTo>
                      <a:pt x="324037" y="66675"/>
                      <a:pt x="331788" y="73143"/>
                      <a:pt x="331788" y="83491"/>
                    </a:cubicBezTo>
                    <a:cubicBezTo>
                      <a:pt x="331788" y="83491"/>
                      <a:pt x="331788" y="83491"/>
                      <a:pt x="331788" y="189559"/>
                    </a:cubicBezTo>
                    <a:cubicBezTo>
                      <a:pt x="331788" y="198614"/>
                      <a:pt x="324037" y="206375"/>
                      <a:pt x="314995" y="206375"/>
                    </a:cubicBezTo>
                    <a:cubicBezTo>
                      <a:pt x="314995" y="206375"/>
                      <a:pt x="314995" y="206375"/>
                      <a:pt x="85056" y="206375"/>
                    </a:cubicBezTo>
                    <a:cubicBezTo>
                      <a:pt x="76014" y="206375"/>
                      <a:pt x="68263" y="198614"/>
                      <a:pt x="68263" y="189559"/>
                    </a:cubicBezTo>
                    <a:cubicBezTo>
                      <a:pt x="68263" y="189559"/>
                      <a:pt x="68263" y="189559"/>
                      <a:pt x="68263" y="183092"/>
                    </a:cubicBezTo>
                    <a:cubicBezTo>
                      <a:pt x="68263" y="183092"/>
                      <a:pt x="68263" y="183092"/>
                      <a:pt x="281408" y="183092"/>
                    </a:cubicBezTo>
                    <a:cubicBezTo>
                      <a:pt x="296910" y="183092"/>
                      <a:pt x="308536" y="171450"/>
                      <a:pt x="308536" y="155928"/>
                    </a:cubicBezTo>
                    <a:cubicBezTo>
                      <a:pt x="308536" y="155928"/>
                      <a:pt x="308536" y="155928"/>
                      <a:pt x="308536" y="66675"/>
                    </a:cubicBezTo>
                    <a:close/>
                    <a:moveTo>
                      <a:pt x="275059" y="33338"/>
                    </a:moveTo>
                    <a:cubicBezTo>
                      <a:pt x="275059" y="33338"/>
                      <a:pt x="275059" y="33338"/>
                      <a:pt x="281557" y="33338"/>
                    </a:cubicBezTo>
                    <a:cubicBezTo>
                      <a:pt x="290654" y="33338"/>
                      <a:pt x="298451" y="41099"/>
                      <a:pt x="298451" y="50154"/>
                    </a:cubicBezTo>
                    <a:cubicBezTo>
                      <a:pt x="298451" y="50154"/>
                      <a:pt x="298451" y="50154"/>
                      <a:pt x="298451" y="156222"/>
                    </a:cubicBezTo>
                    <a:cubicBezTo>
                      <a:pt x="298451" y="165277"/>
                      <a:pt x="290654" y="173038"/>
                      <a:pt x="281557" y="173038"/>
                    </a:cubicBezTo>
                    <a:cubicBezTo>
                      <a:pt x="281557" y="173038"/>
                      <a:pt x="281557" y="173038"/>
                      <a:pt x="50232" y="173038"/>
                    </a:cubicBezTo>
                    <a:cubicBezTo>
                      <a:pt x="41135" y="173038"/>
                      <a:pt x="33338" y="165277"/>
                      <a:pt x="33338" y="156222"/>
                    </a:cubicBezTo>
                    <a:cubicBezTo>
                      <a:pt x="33338" y="156222"/>
                      <a:pt x="33338" y="156222"/>
                      <a:pt x="33338" y="149755"/>
                    </a:cubicBezTo>
                    <a:cubicBezTo>
                      <a:pt x="33338" y="149755"/>
                      <a:pt x="33338" y="149755"/>
                      <a:pt x="247768" y="149755"/>
                    </a:cubicBezTo>
                    <a:cubicBezTo>
                      <a:pt x="263363" y="149755"/>
                      <a:pt x="275059" y="138113"/>
                      <a:pt x="275059" y="122591"/>
                    </a:cubicBezTo>
                    <a:cubicBezTo>
                      <a:pt x="275059" y="122591"/>
                      <a:pt x="275059" y="122591"/>
                      <a:pt x="275059" y="33338"/>
                    </a:cubicBezTo>
                    <a:close/>
                    <a:moveTo>
                      <a:pt x="99109" y="21630"/>
                    </a:moveTo>
                    <a:cubicBezTo>
                      <a:pt x="97823" y="21630"/>
                      <a:pt x="97823" y="21630"/>
                      <a:pt x="97823" y="22920"/>
                    </a:cubicBezTo>
                    <a:cubicBezTo>
                      <a:pt x="96536" y="24210"/>
                      <a:pt x="95250" y="25499"/>
                      <a:pt x="95250" y="28079"/>
                    </a:cubicBezTo>
                    <a:cubicBezTo>
                      <a:pt x="95250" y="29369"/>
                      <a:pt x="96536" y="30659"/>
                      <a:pt x="96536" y="31949"/>
                    </a:cubicBezTo>
                    <a:cubicBezTo>
                      <a:pt x="96536" y="31949"/>
                      <a:pt x="96536" y="31949"/>
                      <a:pt x="97823" y="33238"/>
                    </a:cubicBezTo>
                    <a:cubicBezTo>
                      <a:pt x="97823" y="33238"/>
                      <a:pt x="97823" y="33238"/>
                      <a:pt x="118406" y="66775"/>
                    </a:cubicBezTo>
                    <a:cubicBezTo>
                      <a:pt x="118406" y="66775"/>
                      <a:pt x="118406" y="66775"/>
                      <a:pt x="119692" y="68064"/>
                    </a:cubicBezTo>
                    <a:cubicBezTo>
                      <a:pt x="119692" y="68064"/>
                      <a:pt x="119692" y="68064"/>
                      <a:pt x="111974" y="68064"/>
                    </a:cubicBezTo>
                    <a:cubicBezTo>
                      <a:pt x="108114" y="68064"/>
                      <a:pt x="104255" y="71934"/>
                      <a:pt x="104255" y="75804"/>
                    </a:cubicBezTo>
                    <a:cubicBezTo>
                      <a:pt x="104255" y="79673"/>
                      <a:pt x="108114" y="83543"/>
                      <a:pt x="111974" y="83543"/>
                    </a:cubicBezTo>
                    <a:cubicBezTo>
                      <a:pt x="111974" y="83543"/>
                      <a:pt x="111974" y="83543"/>
                      <a:pt x="124838" y="83543"/>
                    </a:cubicBezTo>
                    <a:cubicBezTo>
                      <a:pt x="124838" y="83543"/>
                      <a:pt x="124838" y="83543"/>
                      <a:pt x="124838" y="89992"/>
                    </a:cubicBezTo>
                    <a:cubicBezTo>
                      <a:pt x="124838" y="89992"/>
                      <a:pt x="124838" y="89992"/>
                      <a:pt x="111974" y="89992"/>
                    </a:cubicBezTo>
                    <a:cubicBezTo>
                      <a:pt x="108114" y="89992"/>
                      <a:pt x="104255" y="93861"/>
                      <a:pt x="104255" y="97731"/>
                    </a:cubicBezTo>
                    <a:cubicBezTo>
                      <a:pt x="104255" y="101601"/>
                      <a:pt x="108114" y="105470"/>
                      <a:pt x="111974" y="105470"/>
                    </a:cubicBezTo>
                    <a:cubicBezTo>
                      <a:pt x="111974" y="105470"/>
                      <a:pt x="111974" y="105470"/>
                      <a:pt x="124838" y="105470"/>
                    </a:cubicBezTo>
                    <a:cubicBezTo>
                      <a:pt x="124838" y="105470"/>
                      <a:pt x="124838" y="105470"/>
                      <a:pt x="124838" y="114499"/>
                    </a:cubicBezTo>
                    <a:cubicBezTo>
                      <a:pt x="124838" y="119658"/>
                      <a:pt x="128697" y="122238"/>
                      <a:pt x="132557" y="122238"/>
                    </a:cubicBezTo>
                    <a:cubicBezTo>
                      <a:pt x="136416" y="122238"/>
                      <a:pt x="140275" y="119658"/>
                      <a:pt x="140275" y="114499"/>
                    </a:cubicBezTo>
                    <a:cubicBezTo>
                      <a:pt x="140275" y="114499"/>
                      <a:pt x="140275" y="114499"/>
                      <a:pt x="140275" y="105470"/>
                    </a:cubicBezTo>
                    <a:cubicBezTo>
                      <a:pt x="140275" y="105470"/>
                      <a:pt x="140275" y="105470"/>
                      <a:pt x="153139" y="105470"/>
                    </a:cubicBezTo>
                    <a:cubicBezTo>
                      <a:pt x="158285" y="105470"/>
                      <a:pt x="160858" y="101601"/>
                      <a:pt x="160858" y="97731"/>
                    </a:cubicBezTo>
                    <a:cubicBezTo>
                      <a:pt x="160858" y="93861"/>
                      <a:pt x="158285" y="89992"/>
                      <a:pt x="153139" y="89992"/>
                    </a:cubicBezTo>
                    <a:cubicBezTo>
                      <a:pt x="153139" y="89992"/>
                      <a:pt x="153139" y="89992"/>
                      <a:pt x="140275" y="89992"/>
                    </a:cubicBezTo>
                    <a:cubicBezTo>
                      <a:pt x="140275" y="89992"/>
                      <a:pt x="140275" y="89992"/>
                      <a:pt x="140275" y="83543"/>
                    </a:cubicBezTo>
                    <a:cubicBezTo>
                      <a:pt x="140275" y="83543"/>
                      <a:pt x="140275" y="83543"/>
                      <a:pt x="153139" y="83543"/>
                    </a:cubicBezTo>
                    <a:cubicBezTo>
                      <a:pt x="158285" y="83543"/>
                      <a:pt x="160858" y="79673"/>
                      <a:pt x="160858" y="75804"/>
                    </a:cubicBezTo>
                    <a:cubicBezTo>
                      <a:pt x="160858" y="71934"/>
                      <a:pt x="158285" y="68064"/>
                      <a:pt x="153139" y="68064"/>
                    </a:cubicBezTo>
                    <a:cubicBezTo>
                      <a:pt x="153139" y="68064"/>
                      <a:pt x="153139" y="68064"/>
                      <a:pt x="145421" y="68064"/>
                    </a:cubicBezTo>
                    <a:cubicBezTo>
                      <a:pt x="145421" y="68064"/>
                      <a:pt x="145421" y="68064"/>
                      <a:pt x="146707" y="66775"/>
                    </a:cubicBezTo>
                    <a:cubicBezTo>
                      <a:pt x="146707" y="66775"/>
                      <a:pt x="146707" y="66775"/>
                      <a:pt x="168577" y="33238"/>
                    </a:cubicBezTo>
                    <a:cubicBezTo>
                      <a:pt x="168577" y="33238"/>
                      <a:pt x="168577" y="33238"/>
                      <a:pt x="168577" y="31949"/>
                    </a:cubicBezTo>
                    <a:cubicBezTo>
                      <a:pt x="169863" y="30659"/>
                      <a:pt x="169863" y="29369"/>
                      <a:pt x="169863" y="28079"/>
                    </a:cubicBezTo>
                    <a:cubicBezTo>
                      <a:pt x="169863" y="25499"/>
                      <a:pt x="169863" y="24210"/>
                      <a:pt x="168577" y="22920"/>
                    </a:cubicBezTo>
                    <a:cubicBezTo>
                      <a:pt x="167290" y="21630"/>
                      <a:pt x="167290" y="21630"/>
                      <a:pt x="166004" y="21630"/>
                    </a:cubicBezTo>
                    <a:cubicBezTo>
                      <a:pt x="163431" y="19050"/>
                      <a:pt x="159572" y="20340"/>
                      <a:pt x="156999" y="22920"/>
                    </a:cubicBezTo>
                    <a:cubicBezTo>
                      <a:pt x="156999" y="22920"/>
                      <a:pt x="155712" y="22920"/>
                      <a:pt x="155712" y="22920"/>
                    </a:cubicBezTo>
                    <a:cubicBezTo>
                      <a:pt x="155712" y="22920"/>
                      <a:pt x="155712" y="22920"/>
                      <a:pt x="153139" y="28079"/>
                    </a:cubicBezTo>
                    <a:cubicBezTo>
                      <a:pt x="153139" y="28079"/>
                      <a:pt x="153139" y="28079"/>
                      <a:pt x="150567" y="33238"/>
                    </a:cubicBezTo>
                    <a:cubicBezTo>
                      <a:pt x="150567" y="33238"/>
                      <a:pt x="150567" y="33238"/>
                      <a:pt x="132557" y="60325"/>
                    </a:cubicBezTo>
                    <a:cubicBezTo>
                      <a:pt x="132557" y="60325"/>
                      <a:pt x="132557" y="60325"/>
                      <a:pt x="115833" y="33238"/>
                    </a:cubicBezTo>
                    <a:cubicBezTo>
                      <a:pt x="115833" y="33238"/>
                      <a:pt x="115833" y="33238"/>
                      <a:pt x="111974" y="28079"/>
                    </a:cubicBezTo>
                    <a:cubicBezTo>
                      <a:pt x="111974" y="28079"/>
                      <a:pt x="111974" y="28079"/>
                      <a:pt x="109401" y="22920"/>
                    </a:cubicBezTo>
                    <a:cubicBezTo>
                      <a:pt x="106828" y="20340"/>
                      <a:pt x="101682" y="19050"/>
                      <a:pt x="99109" y="21630"/>
                    </a:cubicBezTo>
                    <a:close/>
                    <a:moveTo>
                      <a:pt x="16894" y="0"/>
                    </a:moveTo>
                    <a:cubicBezTo>
                      <a:pt x="16894" y="0"/>
                      <a:pt x="16894" y="0"/>
                      <a:pt x="248219" y="0"/>
                    </a:cubicBezTo>
                    <a:cubicBezTo>
                      <a:pt x="257316" y="0"/>
                      <a:pt x="265113" y="7761"/>
                      <a:pt x="265113" y="16816"/>
                    </a:cubicBezTo>
                    <a:cubicBezTo>
                      <a:pt x="265113" y="16816"/>
                      <a:pt x="265113" y="16816"/>
                      <a:pt x="265113" y="122884"/>
                    </a:cubicBezTo>
                    <a:cubicBezTo>
                      <a:pt x="265113" y="133233"/>
                      <a:pt x="257316" y="139700"/>
                      <a:pt x="248219" y="139700"/>
                    </a:cubicBezTo>
                    <a:cubicBezTo>
                      <a:pt x="248219" y="139700"/>
                      <a:pt x="248219" y="139700"/>
                      <a:pt x="23392" y="139700"/>
                    </a:cubicBezTo>
                    <a:lnTo>
                      <a:pt x="16894" y="139700"/>
                    </a:lnTo>
                    <a:cubicBezTo>
                      <a:pt x="7797" y="139700"/>
                      <a:pt x="0" y="133233"/>
                      <a:pt x="0" y="122884"/>
                    </a:cubicBezTo>
                    <a:cubicBezTo>
                      <a:pt x="0" y="122884"/>
                      <a:pt x="0" y="122884"/>
                      <a:pt x="0" y="16816"/>
                    </a:cubicBezTo>
                    <a:cubicBezTo>
                      <a:pt x="0" y="7761"/>
                      <a:pt x="7797" y="0"/>
                      <a:pt x="16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endParaRPr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6559385" y="5021849"/>
              <a:ext cx="595993" cy="595992"/>
              <a:chOff x="6118125" y="5021849"/>
              <a:chExt cx="595993" cy="595992"/>
            </a:xfrm>
          </p:grpSpPr>
          <p:sp>
            <p:nvSpPr>
              <p:cNvPr id="140" name="椭圆 139"/>
              <p:cNvSpPr/>
              <p:nvPr/>
            </p:nvSpPr>
            <p:spPr>
              <a:xfrm>
                <a:off x="6118125" y="5021849"/>
                <a:ext cx="595993" cy="595992"/>
              </a:xfrm>
              <a:prstGeom prst="ellipse">
                <a:avLst/>
              </a:prstGeom>
              <a:solidFill>
                <a:srgbClr val="703881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41" name="任意多边形: 形状 140"/>
              <p:cNvSpPr/>
              <p:nvPr/>
            </p:nvSpPr>
            <p:spPr bwMode="auto">
              <a:xfrm>
                <a:off x="6304938" y="5238809"/>
                <a:ext cx="212129" cy="171530"/>
              </a:xfrm>
              <a:custGeom>
                <a:avLst/>
                <a:gdLst>
                  <a:gd name="connsiteX0" fmla="*/ 9105 w 331788"/>
                  <a:gd name="connsiteY0" fmla="*/ 87313 h 268288"/>
                  <a:gd name="connsiteX1" fmla="*/ 63736 w 331788"/>
                  <a:gd name="connsiteY1" fmla="*/ 87313 h 268288"/>
                  <a:gd name="connsiteX2" fmla="*/ 67638 w 331788"/>
                  <a:gd name="connsiteY2" fmla="*/ 92447 h 268288"/>
                  <a:gd name="connsiteX3" fmla="*/ 67638 w 331788"/>
                  <a:gd name="connsiteY3" fmla="*/ 172025 h 268288"/>
                  <a:gd name="connsiteX4" fmla="*/ 89750 w 331788"/>
                  <a:gd name="connsiteY4" fmla="*/ 193845 h 268288"/>
                  <a:gd name="connsiteX5" fmla="*/ 196410 w 331788"/>
                  <a:gd name="connsiteY5" fmla="*/ 193845 h 268288"/>
                  <a:gd name="connsiteX6" fmla="*/ 201613 w 331788"/>
                  <a:gd name="connsiteY6" fmla="*/ 197695 h 268288"/>
                  <a:gd name="connsiteX7" fmla="*/ 201613 w 331788"/>
                  <a:gd name="connsiteY7" fmla="*/ 220798 h 268288"/>
                  <a:gd name="connsiteX8" fmla="*/ 192508 w 331788"/>
                  <a:gd name="connsiteY8" fmla="*/ 229783 h 268288"/>
                  <a:gd name="connsiteX9" fmla="*/ 88450 w 331788"/>
                  <a:gd name="connsiteY9" fmla="*/ 229783 h 268288"/>
                  <a:gd name="connsiteX10" fmla="*/ 84547 w 331788"/>
                  <a:gd name="connsiteY10" fmla="*/ 231066 h 268288"/>
                  <a:gd name="connsiteX11" fmla="*/ 59834 w 331788"/>
                  <a:gd name="connsiteY11" fmla="*/ 265721 h 268288"/>
                  <a:gd name="connsiteX12" fmla="*/ 55931 w 331788"/>
                  <a:gd name="connsiteY12" fmla="*/ 268288 h 268288"/>
                  <a:gd name="connsiteX13" fmla="*/ 52029 w 331788"/>
                  <a:gd name="connsiteY13" fmla="*/ 265721 h 268288"/>
                  <a:gd name="connsiteX14" fmla="*/ 27315 w 331788"/>
                  <a:gd name="connsiteY14" fmla="*/ 231066 h 268288"/>
                  <a:gd name="connsiteX15" fmla="*/ 23413 w 331788"/>
                  <a:gd name="connsiteY15" fmla="*/ 229783 h 268288"/>
                  <a:gd name="connsiteX16" fmla="*/ 9105 w 331788"/>
                  <a:gd name="connsiteY16" fmla="*/ 229783 h 268288"/>
                  <a:gd name="connsiteX17" fmla="*/ 0 w 331788"/>
                  <a:gd name="connsiteY17" fmla="*/ 220798 h 268288"/>
                  <a:gd name="connsiteX18" fmla="*/ 0 w 331788"/>
                  <a:gd name="connsiteY18" fmla="*/ 96298 h 268288"/>
                  <a:gd name="connsiteX19" fmla="*/ 9105 w 331788"/>
                  <a:gd name="connsiteY19" fmla="*/ 87313 h 268288"/>
                  <a:gd name="connsiteX20" fmla="*/ 200880 w 331788"/>
                  <a:gd name="connsiteY20" fmla="*/ 25400 h 268288"/>
                  <a:gd name="connsiteX21" fmla="*/ 199567 w 331788"/>
                  <a:gd name="connsiteY21" fmla="*/ 28004 h 268288"/>
                  <a:gd name="connsiteX22" fmla="*/ 199567 w 331788"/>
                  <a:gd name="connsiteY22" fmla="*/ 39723 h 268288"/>
                  <a:gd name="connsiteX23" fmla="*/ 178563 w 331788"/>
                  <a:gd name="connsiteY23" fmla="*/ 64463 h 268288"/>
                  <a:gd name="connsiteX24" fmla="*/ 208757 w 331788"/>
                  <a:gd name="connsiteY24" fmla="*/ 94412 h 268288"/>
                  <a:gd name="connsiteX25" fmla="*/ 223197 w 331788"/>
                  <a:gd name="connsiteY25" fmla="*/ 103527 h 268288"/>
                  <a:gd name="connsiteX26" fmla="*/ 210069 w 331788"/>
                  <a:gd name="connsiteY26" fmla="*/ 110037 h 268288"/>
                  <a:gd name="connsiteX27" fmla="*/ 193004 w 331788"/>
                  <a:gd name="connsiteY27" fmla="*/ 103527 h 268288"/>
                  <a:gd name="connsiteX28" fmla="*/ 189065 w 331788"/>
                  <a:gd name="connsiteY28" fmla="*/ 99621 h 268288"/>
                  <a:gd name="connsiteX29" fmla="*/ 186440 w 331788"/>
                  <a:gd name="connsiteY29" fmla="*/ 99621 h 268288"/>
                  <a:gd name="connsiteX30" fmla="*/ 175938 w 331788"/>
                  <a:gd name="connsiteY30" fmla="*/ 111340 h 268288"/>
                  <a:gd name="connsiteX31" fmla="*/ 174625 w 331788"/>
                  <a:gd name="connsiteY31" fmla="*/ 112642 h 268288"/>
                  <a:gd name="connsiteX32" fmla="*/ 174625 w 331788"/>
                  <a:gd name="connsiteY32" fmla="*/ 113944 h 268288"/>
                  <a:gd name="connsiteX33" fmla="*/ 178563 w 331788"/>
                  <a:gd name="connsiteY33" fmla="*/ 116548 h 268288"/>
                  <a:gd name="connsiteX34" fmla="*/ 199567 w 331788"/>
                  <a:gd name="connsiteY34" fmla="*/ 128267 h 268288"/>
                  <a:gd name="connsiteX35" fmla="*/ 199567 w 331788"/>
                  <a:gd name="connsiteY35" fmla="*/ 139986 h 268288"/>
                  <a:gd name="connsiteX36" fmla="*/ 200880 w 331788"/>
                  <a:gd name="connsiteY36" fmla="*/ 141288 h 268288"/>
                  <a:gd name="connsiteX37" fmla="*/ 216633 w 331788"/>
                  <a:gd name="connsiteY37" fmla="*/ 141288 h 268288"/>
                  <a:gd name="connsiteX38" fmla="*/ 219259 w 331788"/>
                  <a:gd name="connsiteY38" fmla="*/ 139986 h 268288"/>
                  <a:gd name="connsiteX39" fmla="*/ 219259 w 331788"/>
                  <a:gd name="connsiteY39" fmla="*/ 128267 h 268288"/>
                  <a:gd name="connsiteX40" fmla="*/ 242888 w 331788"/>
                  <a:gd name="connsiteY40" fmla="*/ 103527 h 268288"/>
                  <a:gd name="connsiteX41" fmla="*/ 214008 w 331788"/>
                  <a:gd name="connsiteY41" fmla="*/ 74880 h 268288"/>
                  <a:gd name="connsiteX42" fmla="*/ 198255 w 331788"/>
                  <a:gd name="connsiteY42" fmla="*/ 64463 h 268288"/>
                  <a:gd name="connsiteX43" fmla="*/ 211382 w 331788"/>
                  <a:gd name="connsiteY43" fmla="*/ 56651 h 268288"/>
                  <a:gd name="connsiteX44" fmla="*/ 227135 w 331788"/>
                  <a:gd name="connsiteY44" fmla="*/ 60557 h 268288"/>
                  <a:gd name="connsiteX45" fmla="*/ 229761 w 331788"/>
                  <a:gd name="connsiteY45" fmla="*/ 63161 h 268288"/>
                  <a:gd name="connsiteX46" fmla="*/ 233699 w 331788"/>
                  <a:gd name="connsiteY46" fmla="*/ 63161 h 268288"/>
                  <a:gd name="connsiteX47" fmla="*/ 241575 w 331788"/>
                  <a:gd name="connsiteY47" fmla="*/ 50140 h 268288"/>
                  <a:gd name="connsiteX48" fmla="*/ 241575 w 331788"/>
                  <a:gd name="connsiteY48" fmla="*/ 47536 h 268288"/>
                  <a:gd name="connsiteX49" fmla="*/ 237637 w 331788"/>
                  <a:gd name="connsiteY49" fmla="*/ 44932 h 268288"/>
                  <a:gd name="connsiteX50" fmla="*/ 219259 w 331788"/>
                  <a:gd name="connsiteY50" fmla="*/ 38421 h 268288"/>
                  <a:gd name="connsiteX51" fmla="*/ 219259 w 331788"/>
                  <a:gd name="connsiteY51" fmla="*/ 28004 h 268288"/>
                  <a:gd name="connsiteX52" fmla="*/ 216633 w 331788"/>
                  <a:gd name="connsiteY52" fmla="*/ 25400 h 268288"/>
                  <a:gd name="connsiteX53" fmla="*/ 200880 w 331788"/>
                  <a:gd name="connsiteY53" fmla="*/ 25400 h 268288"/>
                  <a:gd name="connsiteX54" fmla="*/ 95464 w 331788"/>
                  <a:gd name="connsiteY54" fmla="*/ 0 h 268288"/>
                  <a:gd name="connsiteX55" fmla="*/ 320166 w 331788"/>
                  <a:gd name="connsiteY55" fmla="*/ 0 h 268288"/>
                  <a:gd name="connsiteX56" fmla="*/ 331788 w 331788"/>
                  <a:gd name="connsiteY56" fmla="*/ 12898 h 268288"/>
                  <a:gd name="connsiteX57" fmla="*/ 331788 w 331788"/>
                  <a:gd name="connsiteY57" fmla="*/ 166390 h 268288"/>
                  <a:gd name="connsiteX58" fmla="*/ 320166 w 331788"/>
                  <a:gd name="connsiteY58" fmla="*/ 177999 h 268288"/>
                  <a:gd name="connsiteX59" fmla="*/ 302086 w 331788"/>
                  <a:gd name="connsiteY59" fmla="*/ 177999 h 268288"/>
                  <a:gd name="connsiteX60" fmla="*/ 298212 w 331788"/>
                  <a:gd name="connsiteY60" fmla="*/ 180579 h 268288"/>
                  <a:gd name="connsiteX61" fmla="*/ 265927 w 331788"/>
                  <a:gd name="connsiteY61" fmla="*/ 225723 h 268288"/>
                  <a:gd name="connsiteX62" fmla="*/ 262053 w 331788"/>
                  <a:gd name="connsiteY62" fmla="*/ 227013 h 268288"/>
                  <a:gd name="connsiteX63" fmla="*/ 258179 w 331788"/>
                  <a:gd name="connsiteY63" fmla="*/ 225723 h 268288"/>
                  <a:gd name="connsiteX64" fmla="*/ 227186 w 331788"/>
                  <a:gd name="connsiteY64" fmla="*/ 180579 h 268288"/>
                  <a:gd name="connsiteX65" fmla="*/ 223311 w 331788"/>
                  <a:gd name="connsiteY65" fmla="*/ 177999 h 268288"/>
                  <a:gd name="connsiteX66" fmla="*/ 95464 w 331788"/>
                  <a:gd name="connsiteY66" fmla="*/ 177999 h 268288"/>
                  <a:gd name="connsiteX67" fmla="*/ 82550 w 331788"/>
                  <a:gd name="connsiteY67" fmla="*/ 166390 h 268288"/>
                  <a:gd name="connsiteX68" fmla="*/ 82550 w 331788"/>
                  <a:gd name="connsiteY68" fmla="*/ 12898 h 268288"/>
                  <a:gd name="connsiteX69" fmla="*/ 95464 w 331788"/>
                  <a:gd name="connsiteY69" fmla="*/ 0 h 268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331788" h="268288">
                    <a:moveTo>
                      <a:pt x="9105" y="87313"/>
                    </a:moveTo>
                    <a:cubicBezTo>
                      <a:pt x="9105" y="87313"/>
                      <a:pt x="9105" y="87313"/>
                      <a:pt x="63736" y="87313"/>
                    </a:cubicBezTo>
                    <a:cubicBezTo>
                      <a:pt x="66337" y="87313"/>
                      <a:pt x="67638" y="89880"/>
                      <a:pt x="67638" y="92447"/>
                    </a:cubicBezTo>
                    <a:cubicBezTo>
                      <a:pt x="67638" y="92447"/>
                      <a:pt x="67638" y="92447"/>
                      <a:pt x="67638" y="172025"/>
                    </a:cubicBezTo>
                    <a:cubicBezTo>
                      <a:pt x="67638" y="183576"/>
                      <a:pt x="78044" y="193845"/>
                      <a:pt x="89750" y="193845"/>
                    </a:cubicBezTo>
                    <a:cubicBezTo>
                      <a:pt x="89750" y="193845"/>
                      <a:pt x="89750" y="193845"/>
                      <a:pt x="196410" y="193845"/>
                    </a:cubicBezTo>
                    <a:cubicBezTo>
                      <a:pt x="199012" y="193845"/>
                      <a:pt x="201613" y="195128"/>
                      <a:pt x="201613" y="197695"/>
                    </a:cubicBezTo>
                    <a:cubicBezTo>
                      <a:pt x="201613" y="197695"/>
                      <a:pt x="201613" y="197695"/>
                      <a:pt x="201613" y="220798"/>
                    </a:cubicBezTo>
                    <a:cubicBezTo>
                      <a:pt x="201613" y="225932"/>
                      <a:pt x="197711" y="229783"/>
                      <a:pt x="192508" y="229783"/>
                    </a:cubicBezTo>
                    <a:cubicBezTo>
                      <a:pt x="192508" y="229783"/>
                      <a:pt x="192508" y="229783"/>
                      <a:pt x="88450" y="229783"/>
                    </a:cubicBezTo>
                    <a:cubicBezTo>
                      <a:pt x="87149" y="229783"/>
                      <a:pt x="85848" y="229783"/>
                      <a:pt x="84547" y="231066"/>
                    </a:cubicBezTo>
                    <a:cubicBezTo>
                      <a:pt x="84547" y="231066"/>
                      <a:pt x="84547" y="231066"/>
                      <a:pt x="59834" y="265721"/>
                    </a:cubicBezTo>
                    <a:cubicBezTo>
                      <a:pt x="58533" y="267005"/>
                      <a:pt x="57232" y="268288"/>
                      <a:pt x="55931" y="268288"/>
                    </a:cubicBezTo>
                    <a:cubicBezTo>
                      <a:pt x="54631" y="268288"/>
                      <a:pt x="53330" y="267005"/>
                      <a:pt x="52029" y="265721"/>
                    </a:cubicBezTo>
                    <a:cubicBezTo>
                      <a:pt x="52029" y="265721"/>
                      <a:pt x="52029" y="265721"/>
                      <a:pt x="27315" y="231066"/>
                    </a:cubicBezTo>
                    <a:cubicBezTo>
                      <a:pt x="26015" y="229783"/>
                      <a:pt x="24714" y="229783"/>
                      <a:pt x="23413" y="229783"/>
                    </a:cubicBezTo>
                    <a:cubicBezTo>
                      <a:pt x="23413" y="229783"/>
                      <a:pt x="23413" y="229783"/>
                      <a:pt x="9105" y="229783"/>
                    </a:cubicBezTo>
                    <a:cubicBezTo>
                      <a:pt x="3902" y="229783"/>
                      <a:pt x="0" y="225932"/>
                      <a:pt x="0" y="220798"/>
                    </a:cubicBezTo>
                    <a:cubicBezTo>
                      <a:pt x="0" y="220798"/>
                      <a:pt x="0" y="220798"/>
                      <a:pt x="0" y="96298"/>
                    </a:cubicBezTo>
                    <a:cubicBezTo>
                      <a:pt x="0" y="91164"/>
                      <a:pt x="3902" y="87313"/>
                      <a:pt x="9105" y="87313"/>
                    </a:cubicBezTo>
                    <a:close/>
                    <a:moveTo>
                      <a:pt x="200880" y="25400"/>
                    </a:moveTo>
                    <a:cubicBezTo>
                      <a:pt x="200880" y="25400"/>
                      <a:pt x="199567" y="26702"/>
                      <a:pt x="199567" y="28004"/>
                    </a:cubicBezTo>
                    <a:cubicBezTo>
                      <a:pt x="199567" y="28004"/>
                      <a:pt x="199567" y="28004"/>
                      <a:pt x="199567" y="39723"/>
                    </a:cubicBezTo>
                    <a:cubicBezTo>
                      <a:pt x="186440" y="42328"/>
                      <a:pt x="178563" y="52744"/>
                      <a:pt x="178563" y="64463"/>
                    </a:cubicBezTo>
                    <a:cubicBezTo>
                      <a:pt x="178563" y="85297"/>
                      <a:pt x="196942" y="90506"/>
                      <a:pt x="208757" y="94412"/>
                    </a:cubicBezTo>
                    <a:cubicBezTo>
                      <a:pt x="221884" y="98318"/>
                      <a:pt x="223197" y="99621"/>
                      <a:pt x="223197" y="103527"/>
                    </a:cubicBezTo>
                    <a:cubicBezTo>
                      <a:pt x="223197" y="108735"/>
                      <a:pt x="215320" y="110037"/>
                      <a:pt x="210069" y="110037"/>
                    </a:cubicBezTo>
                    <a:cubicBezTo>
                      <a:pt x="203506" y="110037"/>
                      <a:pt x="196942" y="107433"/>
                      <a:pt x="193004" y="103527"/>
                    </a:cubicBezTo>
                    <a:cubicBezTo>
                      <a:pt x="193004" y="103527"/>
                      <a:pt x="193004" y="103527"/>
                      <a:pt x="189065" y="99621"/>
                    </a:cubicBezTo>
                    <a:cubicBezTo>
                      <a:pt x="189065" y="99621"/>
                      <a:pt x="187753" y="99621"/>
                      <a:pt x="186440" y="99621"/>
                    </a:cubicBezTo>
                    <a:cubicBezTo>
                      <a:pt x="186440" y="99621"/>
                      <a:pt x="186440" y="99621"/>
                      <a:pt x="175938" y="111340"/>
                    </a:cubicBezTo>
                    <a:cubicBezTo>
                      <a:pt x="174625" y="111340"/>
                      <a:pt x="174625" y="111340"/>
                      <a:pt x="174625" y="112642"/>
                    </a:cubicBezTo>
                    <a:cubicBezTo>
                      <a:pt x="174625" y="112642"/>
                      <a:pt x="174625" y="112642"/>
                      <a:pt x="174625" y="113944"/>
                    </a:cubicBezTo>
                    <a:cubicBezTo>
                      <a:pt x="174625" y="113944"/>
                      <a:pt x="174625" y="113944"/>
                      <a:pt x="178563" y="116548"/>
                    </a:cubicBezTo>
                    <a:cubicBezTo>
                      <a:pt x="183814" y="121756"/>
                      <a:pt x="191691" y="126965"/>
                      <a:pt x="199567" y="128267"/>
                    </a:cubicBezTo>
                    <a:cubicBezTo>
                      <a:pt x="199567" y="128267"/>
                      <a:pt x="199567" y="128267"/>
                      <a:pt x="199567" y="139986"/>
                    </a:cubicBezTo>
                    <a:cubicBezTo>
                      <a:pt x="199567" y="141288"/>
                      <a:pt x="200880" y="141288"/>
                      <a:pt x="200880" y="141288"/>
                    </a:cubicBezTo>
                    <a:cubicBezTo>
                      <a:pt x="200880" y="141288"/>
                      <a:pt x="200880" y="141288"/>
                      <a:pt x="216633" y="141288"/>
                    </a:cubicBezTo>
                    <a:cubicBezTo>
                      <a:pt x="217946" y="141288"/>
                      <a:pt x="219259" y="141288"/>
                      <a:pt x="219259" y="139986"/>
                    </a:cubicBezTo>
                    <a:cubicBezTo>
                      <a:pt x="219259" y="139986"/>
                      <a:pt x="219259" y="139986"/>
                      <a:pt x="219259" y="128267"/>
                    </a:cubicBezTo>
                    <a:cubicBezTo>
                      <a:pt x="233699" y="125663"/>
                      <a:pt x="242888" y="116548"/>
                      <a:pt x="242888" y="103527"/>
                    </a:cubicBezTo>
                    <a:cubicBezTo>
                      <a:pt x="242888" y="83995"/>
                      <a:pt x="225822" y="78787"/>
                      <a:pt x="214008" y="74880"/>
                    </a:cubicBezTo>
                    <a:cubicBezTo>
                      <a:pt x="199567" y="70974"/>
                      <a:pt x="198255" y="69672"/>
                      <a:pt x="198255" y="64463"/>
                    </a:cubicBezTo>
                    <a:cubicBezTo>
                      <a:pt x="198255" y="59255"/>
                      <a:pt x="206131" y="56651"/>
                      <a:pt x="211382" y="56651"/>
                    </a:cubicBezTo>
                    <a:cubicBezTo>
                      <a:pt x="216633" y="56651"/>
                      <a:pt x="223197" y="59255"/>
                      <a:pt x="227135" y="60557"/>
                    </a:cubicBezTo>
                    <a:cubicBezTo>
                      <a:pt x="227135" y="60557"/>
                      <a:pt x="227135" y="60557"/>
                      <a:pt x="229761" y="63161"/>
                    </a:cubicBezTo>
                    <a:cubicBezTo>
                      <a:pt x="231073" y="64463"/>
                      <a:pt x="232386" y="64463"/>
                      <a:pt x="233699" y="63161"/>
                    </a:cubicBezTo>
                    <a:cubicBezTo>
                      <a:pt x="233699" y="63161"/>
                      <a:pt x="233699" y="63161"/>
                      <a:pt x="241575" y="50140"/>
                    </a:cubicBezTo>
                    <a:cubicBezTo>
                      <a:pt x="242888" y="48838"/>
                      <a:pt x="241575" y="47536"/>
                      <a:pt x="241575" y="47536"/>
                    </a:cubicBezTo>
                    <a:cubicBezTo>
                      <a:pt x="241575" y="47536"/>
                      <a:pt x="241575" y="47536"/>
                      <a:pt x="237637" y="44932"/>
                    </a:cubicBezTo>
                    <a:cubicBezTo>
                      <a:pt x="232386" y="41025"/>
                      <a:pt x="225822" y="39723"/>
                      <a:pt x="219259" y="38421"/>
                    </a:cubicBezTo>
                    <a:cubicBezTo>
                      <a:pt x="219259" y="38421"/>
                      <a:pt x="219259" y="38421"/>
                      <a:pt x="219259" y="28004"/>
                    </a:cubicBezTo>
                    <a:cubicBezTo>
                      <a:pt x="219259" y="26702"/>
                      <a:pt x="217946" y="25400"/>
                      <a:pt x="216633" y="25400"/>
                    </a:cubicBezTo>
                    <a:cubicBezTo>
                      <a:pt x="216633" y="25400"/>
                      <a:pt x="216633" y="25400"/>
                      <a:pt x="200880" y="25400"/>
                    </a:cubicBezTo>
                    <a:close/>
                    <a:moveTo>
                      <a:pt x="95464" y="0"/>
                    </a:moveTo>
                    <a:cubicBezTo>
                      <a:pt x="95464" y="0"/>
                      <a:pt x="95464" y="0"/>
                      <a:pt x="320166" y="0"/>
                    </a:cubicBezTo>
                    <a:cubicBezTo>
                      <a:pt x="326622" y="0"/>
                      <a:pt x="331788" y="6449"/>
                      <a:pt x="331788" y="12898"/>
                    </a:cubicBezTo>
                    <a:cubicBezTo>
                      <a:pt x="331788" y="12898"/>
                      <a:pt x="331788" y="12898"/>
                      <a:pt x="331788" y="166390"/>
                    </a:cubicBezTo>
                    <a:cubicBezTo>
                      <a:pt x="331788" y="172840"/>
                      <a:pt x="326622" y="177999"/>
                      <a:pt x="320166" y="177999"/>
                    </a:cubicBezTo>
                    <a:cubicBezTo>
                      <a:pt x="320166" y="177999"/>
                      <a:pt x="320166" y="177999"/>
                      <a:pt x="302086" y="177999"/>
                    </a:cubicBezTo>
                    <a:cubicBezTo>
                      <a:pt x="300795" y="177999"/>
                      <a:pt x="299503" y="179289"/>
                      <a:pt x="298212" y="180579"/>
                    </a:cubicBezTo>
                    <a:cubicBezTo>
                      <a:pt x="298212" y="180579"/>
                      <a:pt x="298212" y="180579"/>
                      <a:pt x="265927" y="225723"/>
                    </a:cubicBezTo>
                    <a:cubicBezTo>
                      <a:pt x="265927" y="227013"/>
                      <a:pt x="263344" y="227013"/>
                      <a:pt x="262053" y="227013"/>
                    </a:cubicBezTo>
                    <a:cubicBezTo>
                      <a:pt x="260762" y="227013"/>
                      <a:pt x="259470" y="227013"/>
                      <a:pt x="258179" y="225723"/>
                    </a:cubicBezTo>
                    <a:cubicBezTo>
                      <a:pt x="258179" y="225723"/>
                      <a:pt x="258179" y="225723"/>
                      <a:pt x="227186" y="180579"/>
                    </a:cubicBezTo>
                    <a:cubicBezTo>
                      <a:pt x="225894" y="179289"/>
                      <a:pt x="224603" y="177999"/>
                      <a:pt x="223311" y="177999"/>
                    </a:cubicBezTo>
                    <a:cubicBezTo>
                      <a:pt x="223311" y="177999"/>
                      <a:pt x="223311" y="177999"/>
                      <a:pt x="95464" y="177999"/>
                    </a:cubicBezTo>
                    <a:cubicBezTo>
                      <a:pt x="89007" y="177999"/>
                      <a:pt x="82550" y="172840"/>
                      <a:pt x="82550" y="166390"/>
                    </a:cubicBezTo>
                    <a:cubicBezTo>
                      <a:pt x="82550" y="166390"/>
                      <a:pt x="82550" y="166390"/>
                      <a:pt x="82550" y="12898"/>
                    </a:cubicBezTo>
                    <a:cubicBezTo>
                      <a:pt x="82550" y="6449"/>
                      <a:pt x="89007" y="0"/>
                      <a:pt x="95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endParaRPr>
              </a:p>
            </p:txBody>
          </p:sp>
        </p:grpSp>
        <p:grpSp>
          <p:nvGrpSpPr>
            <p:cNvPr id="137" name="组合 136"/>
            <p:cNvGrpSpPr/>
            <p:nvPr/>
          </p:nvGrpSpPr>
          <p:grpSpPr>
            <a:xfrm>
              <a:off x="6559381" y="1600200"/>
              <a:ext cx="595992" cy="595992"/>
              <a:chOff x="6118121" y="1600200"/>
              <a:chExt cx="595992" cy="595992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6118121" y="1600200"/>
                <a:ext cx="595992" cy="595992"/>
              </a:xfrm>
              <a:prstGeom prst="ellipse">
                <a:avLst/>
              </a:prstGeom>
              <a:solidFill>
                <a:srgbClr val="703881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 bwMode="auto">
              <a:xfrm>
                <a:off x="6304936" y="1789278"/>
                <a:ext cx="212130" cy="210099"/>
              </a:xfrm>
              <a:custGeom>
                <a:avLst/>
                <a:gdLst>
                  <a:gd name="connsiteX0" fmla="*/ 292147 w 331788"/>
                  <a:gd name="connsiteY0" fmla="*/ 109538 h 328613"/>
                  <a:gd name="connsiteX1" fmla="*/ 327025 w 331788"/>
                  <a:gd name="connsiteY1" fmla="*/ 145621 h 328613"/>
                  <a:gd name="connsiteX2" fmla="*/ 327025 w 331788"/>
                  <a:gd name="connsiteY2" fmla="*/ 229385 h 328613"/>
                  <a:gd name="connsiteX3" fmla="*/ 293438 w 331788"/>
                  <a:gd name="connsiteY3" fmla="*/ 264179 h 328613"/>
                  <a:gd name="connsiteX4" fmla="*/ 252101 w 331788"/>
                  <a:gd name="connsiteY4" fmla="*/ 264179 h 328613"/>
                  <a:gd name="connsiteX5" fmla="*/ 252101 w 331788"/>
                  <a:gd name="connsiteY5" fmla="*/ 319593 h 328613"/>
                  <a:gd name="connsiteX6" fmla="*/ 243059 w 331788"/>
                  <a:gd name="connsiteY6" fmla="*/ 328613 h 328613"/>
                  <a:gd name="connsiteX7" fmla="*/ 205596 w 331788"/>
                  <a:gd name="connsiteY7" fmla="*/ 328613 h 328613"/>
                  <a:gd name="connsiteX8" fmla="*/ 195262 w 331788"/>
                  <a:gd name="connsiteY8" fmla="*/ 319593 h 328613"/>
                  <a:gd name="connsiteX9" fmla="*/ 195262 w 331788"/>
                  <a:gd name="connsiteY9" fmla="*/ 235829 h 328613"/>
                  <a:gd name="connsiteX10" fmla="*/ 224973 w 331788"/>
                  <a:gd name="connsiteY10" fmla="*/ 207478 h 328613"/>
                  <a:gd name="connsiteX11" fmla="*/ 255976 w 331788"/>
                  <a:gd name="connsiteY11" fmla="*/ 207478 h 328613"/>
                  <a:gd name="connsiteX12" fmla="*/ 255976 w 331788"/>
                  <a:gd name="connsiteY12" fmla="*/ 145621 h 328613"/>
                  <a:gd name="connsiteX13" fmla="*/ 292147 w 331788"/>
                  <a:gd name="connsiteY13" fmla="*/ 109538 h 328613"/>
                  <a:gd name="connsiteX14" fmla="*/ 38473 w 331788"/>
                  <a:gd name="connsiteY14" fmla="*/ 109538 h 328613"/>
                  <a:gd name="connsiteX15" fmla="*/ 75079 w 331788"/>
                  <a:gd name="connsiteY15" fmla="*/ 145621 h 328613"/>
                  <a:gd name="connsiteX16" fmla="*/ 75079 w 331788"/>
                  <a:gd name="connsiteY16" fmla="*/ 207478 h 328613"/>
                  <a:gd name="connsiteX17" fmla="*/ 106456 w 331788"/>
                  <a:gd name="connsiteY17" fmla="*/ 207478 h 328613"/>
                  <a:gd name="connsiteX18" fmla="*/ 136525 w 331788"/>
                  <a:gd name="connsiteY18" fmla="*/ 235829 h 328613"/>
                  <a:gd name="connsiteX19" fmla="*/ 136525 w 331788"/>
                  <a:gd name="connsiteY19" fmla="*/ 319593 h 328613"/>
                  <a:gd name="connsiteX20" fmla="*/ 126066 w 331788"/>
                  <a:gd name="connsiteY20" fmla="*/ 328613 h 328613"/>
                  <a:gd name="connsiteX21" fmla="*/ 88153 w 331788"/>
                  <a:gd name="connsiteY21" fmla="*/ 328613 h 328613"/>
                  <a:gd name="connsiteX22" fmla="*/ 79001 w 331788"/>
                  <a:gd name="connsiteY22" fmla="*/ 319593 h 328613"/>
                  <a:gd name="connsiteX23" fmla="*/ 79001 w 331788"/>
                  <a:gd name="connsiteY23" fmla="*/ 264179 h 328613"/>
                  <a:gd name="connsiteX24" fmla="*/ 37166 w 331788"/>
                  <a:gd name="connsiteY24" fmla="*/ 264179 h 328613"/>
                  <a:gd name="connsiteX25" fmla="*/ 3175 w 331788"/>
                  <a:gd name="connsiteY25" fmla="*/ 229385 h 328613"/>
                  <a:gd name="connsiteX26" fmla="*/ 3175 w 331788"/>
                  <a:gd name="connsiteY26" fmla="*/ 145621 h 328613"/>
                  <a:gd name="connsiteX27" fmla="*/ 38473 w 331788"/>
                  <a:gd name="connsiteY27" fmla="*/ 109538 h 328613"/>
                  <a:gd name="connsiteX28" fmla="*/ 160734 w 331788"/>
                  <a:gd name="connsiteY28" fmla="*/ 88900 h 328613"/>
                  <a:gd name="connsiteX29" fmla="*/ 171053 w 331788"/>
                  <a:gd name="connsiteY29" fmla="*/ 88900 h 328613"/>
                  <a:gd name="connsiteX30" fmla="*/ 173633 w 331788"/>
                  <a:gd name="connsiteY30" fmla="*/ 90195 h 328613"/>
                  <a:gd name="connsiteX31" fmla="*/ 174923 w 331788"/>
                  <a:gd name="connsiteY31" fmla="*/ 95375 h 328613"/>
                  <a:gd name="connsiteX32" fmla="*/ 169763 w 331788"/>
                  <a:gd name="connsiteY32" fmla="*/ 103146 h 328613"/>
                  <a:gd name="connsiteX33" fmla="*/ 172343 w 331788"/>
                  <a:gd name="connsiteY33" fmla="*/ 123867 h 328613"/>
                  <a:gd name="connsiteX34" fmla="*/ 167184 w 331788"/>
                  <a:gd name="connsiteY34" fmla="*/ 136818 h 328613"/>
                  <a:gd name="connsiteX35" fmla="*/ 164604 w 331788"/>
                  <a:gd name="connsiteY35" fmla="*/ 136818 h 328613"/>
                  <a:gd name="connsiteX36" fmla="*/ 159444 w 331788"/>
                  <a:gd name="connsiteY36" fmla="*/ 123867 h 328613"/>
                  <a:gd name="connsiteX37" fmla="*/ 162024 w 331788"/>
                  <a:gd name="connsiteY37" fmla="*/ 103146 h 328613"/>
                  <a:gd name="connsiteX38" fmla="*/ 156865 w 331788"/>
                  <a:gd name="connsiteY38" fmla="*/ 95375 h 328613"/>
                  <a:gd name="connsiteX39" fmla="*/ 158155 w 331788"/>
                  <a:gd name="connsiteY39" fmla="*/ 90195 h 328613"/>
                  <a:gd name="connsiteX40" fmla="*/ 160734 w 331788"/>
                  <a:gd name="connsiteY40" fmla="*/ 88900 h 328613"/>
                  <a:gd name="connsiteX41" fmla="*/ 136182 w 331788"/>
                  <a:gd name="connsiteY41" fmla="*/ 88900 h 328613"/>
                  <a:gd name="connsiteX42" fmla="*/ 138766 w 331788"/>
                  <a:gd name="connsiteY42" fmla="*/ 91502 h 328613"/>
                  <a:gd name="connsiteX43" fmla="*/ 165893 w 331788"/>
                  <a:gd name="connsiteY43" fmla="*/ 165652 h 328613"/>
                  <a:gd name="connsiteX44" fmla="*/ 193021 w 331788"/>
                  <a:gd name="connsiteY44" fmla="*/ 91502 h 328613"/>
                  <a:gd name="connsiteX45" fmla="*/ 196897 w 331788"/>
                  <a:gd name="connsiteY45" fmla="*/ 90201 h 328613"/>
                  <a:gd name="connsiteX46" fmla="*/ 208523 w 331788"/>
                  <a:gd name="connsiteY46" fmla="*/ 92802 h 328613"/>
                  <a:gd name="connsiteX47" fmla="*/ 231775 w 331788"/>
                  <a:gd name="connsiteY47" fmla="*/ 125325 h 328613"/>
                  <a:gd name="connsiteX48" fmla="*/ 231775 w 331788"/>
                  <a:gd name="connsiteY48" fmla="*/ 176059 h 328613"/>
                  <a:gd name="connsiteX49" fmla="*/ 226608 w 331788"/>
                  <a:gd name="connsiteY49" fmla="*/ 182563 h 328613"/>
                  <a:gd name="connsiteX50" fmla="*/ 105179 w 331788"/>
                  <a:gd name="connsiteY50" fmla="*/ 182563 h 328613"/>
                  <a:gd name="connsiteX51" fmla="*/ 100012 w 331788"/>
                  <a:gd name="connsiteY51" fmla="*/ 176059 h 328613"/>
                  <a:gd name="connsiteX52" fmla="*/ 100012 w 331788"/>
                  <a:gd name="connsiteY52" fmla="*/ 125325 h 328613"/>
                  <a:gd name="connsiteX53" fmla="*/ 123264 w 331788"/>
                  <a:gd name="connsiteY53" fmla="*/ 92802 h 328613"/>
                  <a:gd name="connsiteX54" fmla="*/ 134890 w 331788"/>
                  <a:gd name="connsiteY54" fmla="*/ 90201 h 328613"/>
                  <a:gd name="connsiteX55" fmla="*/ 136182 w 331788"/>
                  <a:gd name="connsiteY55" fmla="*/ 88900 h 328613"/>
                  <a:gd name="connsiteX56" fmla="*/ 292100 w 331788"/>
                  <a:gd name="connsiteY56" fmla="*/ 19050 h 328613"/>
                  <a:gd name="connsiteX57" fmla="*/ 331788 w 331788"/>
                  <a:gd name="connsiteY57" fmla="*/ 58738 h 328613"/>
                  <a:gd name="connsiteX58" fmla="*/ 292100 w 331788"/>
                  <a:gd name="connsiteY58" fmla="*/ 98426 h 328613"/>
                  <a:gd name="connsiteX59" fmla="*/ 252412 w 331788"/>
                  <a:gd name="connsiteY59" fmla="*/ 58738 h 328613"/>
                  <a:gd name="connsiteX60" fmla="*/ 292100 w 331788"/>
                  <a:gd name="connsiteY60" fmla="*/ 19050 h 328613"/>
                  <a:gd name="connsiteX61" fmla="*/ 39688 w 331788"/>
                  <a:gd name="connsiteY61" fmla="*/ 19050 h 328613"/>
                  <a:gd name="connsiteX62" fmla="*/ 79376 w 331788"/>
                  <a:gd name="connsiteY62" fmla="*/ 58738 h 328613"/>
                  <a:gd name="connsiteX63" fmla="*/ 39688 w 331788"/>
                  <a:gd name="connsiteY63" fmla="*/ 98426 h 328613"/>
                  <a:gd name="connsiteX64" fmla="*/ 0 w 331788"/>
                  <a:gd name="connsiteY64" fmla="*/ 58738 h 328613"/>
                  <a:gd name="connsiteX65" fmla="*/ 39688 w 331788"/>
                  <a:gd name="connsiteY65" fmla="*/ 19050 h 328613"/>
                  <a:gd name="connsiteX66" fmla="*/ 165894 w 331788"/>
                  <a:gd name="connsiteY66" fmla="*/ 0 h 328613"/>
                  <a:gd name="connsiteX67" fmla="*/ 204788 w 331788"/>
                  <a:gd name="connsiteY67" fmla="*/ 39688 h 328613"/>
                  <a:gd name="connsiteX68" fmla="*/ 165894 w 331788"/>
                  <a:gd name="connsiteY68" fmla="*/ 79376 h 328613"/>
                  <a:gd name="connsiteX69" fmla="*/ 127000 w 331788"/>
                  <a:gd name="connsiteY69" fmla="*/ 39688 h 328613"/>
                  <a:gd name="connsiteX70" fmla="*/ 165894 w 331788"/>
                  <a:gd name="connsiteY70" fmla="*/ 0 h 328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331788" h="328613">
                    <a:moveTo>
                      <a:pt x="292147" y="109538"/>
                    </a:moveTo>
                    <a:cubicBezTo>
                      <a:pt x="311524" y="109538"/>
                      <a:pt x="327025" y="126291"/>
                      <a:pt x="327025" y="145621"/>
                    </a:cubicBezTo>
                    <a:cubicBezTo>
                      <a:pt x="327025" y="145621"/>
                      <a:pt x="327025" y="145621"/>
                      <a:pt x="327025" y="229385"/>
                    </a:cubicBezTo>
                    <a:cubicBezTo>
                      <a:pt x="327025" y="248715"/>
                      <a:pt x="311524" y="264179"/>
                      <a:pt x="293438" y="264179"/>
                    </a:cubicBezTo>
                    <a:cubicBezTo>
                      <a:pt x="293438" y="264179"/>
                      <a:pt x="293438" y="264179"/>
                      <a:pt x="252101" y="264179"/>
                    </a:cubicBezTo>
                    <a:cubicBezTo>
                      <a:pt x="252101" y="264179"/>
                      <a:pt x="252101" y="264179"/>
                      <a:pt x="252101" y="319593"/>
                    </a:cubicBezTo>
                    <a:cubicBezTo>
                      <a:pt x="252101" y="324747"/>
                      <a:pt x="248226" y="328613"/>
                      <a:pt x="243059" y="328613"/>
                    </a:cubicBezTo>
                    <a:cubicBezTo>
                      <a:pt x="243059" y="328613"/>
                      <a:pt x="243059" y="328613"/>
                      <a:pt x="205596" y="328613"/>
                    </a:cubicBezTo>
                    <a:cubicBezTo>
                      <a:pt x="199138" y="328613"/>
                      <a:pt x="195262" y="324747"/>
                      <a:pt x="195262" y="319593"/>
                    </a:cubicBezTo>
                    <a:cubicBezTo>
                      <a:pt x="195262" y="319593"/>
                      <a:pt x="195262" y="319593"/>
                      <a:pt x="195262" y="235829"/>
                    </a:cubicBezTo>
                    <a:cubicBezTo>
                      <a:pt x="195262" y="220364"/>
                      <a:pt x="208180" y="207478"/>
                      <a:pt x="224973" y="207478"/>
                    </a:cubicBezTo>
                    <a:cubicBezTo>
                      <a:pt x="224973" y="207478"/>
                      <a:pt x="224973" y="207478"/>
                      <a:pt x="255976" y="207478"/>
                    </a:cubicBezTo>
                    <a:cubicBezTo>
                      <a:pt x="255976" y="207478"/>
                      <a:pt x="255976" y="207478"/>
                      <a:pt x="255976" y="145621"/>
                    </a:cubicBezTo>
                    <a:cubicBezTo>
                      <a:pt x="255976" y="126291"/>
                      <a:pt x="271478" y="109538"/>
                      <a:pt x="292147" y="109538"/>
                    </a:cubicBezTo>
                    <a:close/>
                    <a:moveTo>
                      <a:pt x="38473" y="109538"/>
                    </a:moveTo>
                    <a:cubicBezTo>
                      <a:pt x="59391" y="109538"/>
                      <a:pt x="75079" y="126291"/>
                      <a:pt x="75079" y="145621"/>
                    </a:cubicBezTo>
                    <a:cubicBezTo>
                      <a:pt x="75079" y="145621"/>
                      <a:pt x="75079" y="145621"/>
                      <a:pt x="75079" y="207478"/>
                    </a:cubicBezTo>
                    <a:cubicBezTo>
                      <a:pt x="75079" y="207478"/>
                      <a:pt x="75079" y="207478"/>
                      <a:pt x="106456" y="207478"/>
                    </a:cubicBezTo>
                    <a:cubicBezTo>
                      <a:pt x="123451" y="207478"/>
                      <a:pt x="136525" y="220364"/>
                      <a:pt x="136525" y="235829"/>
                    </a:cubicBezTo>
                    <a:cubicBezTo>
                      <a:pt x="136525" y="235829"/>
                      <a:pt x="136525" y="235829"/>
                      <a:pt x="136525" y="319593"/>
                    </a:cubicBezTo>
                    <a:cubicBezTo>
                      <a:pt x="136525" y="324747"/>
                      <a:pt x="132603" y="328613"/>
                      <a:pt x="126066" y="328613"/>
                    </a:cubicBezTo>
                    <a:cubicBezTo>
                      <a:pt x="126066" y="328613"/>
                      <a:pt x="126066" y="328613"/>
                      <a:pt x="88153" y="328613"/>
                    </a:cubicBezTo>
                    <a:cubicBezTo>
                      <a:pt x="82923" y="328613"/>
                      <a:pt x="79001" y="324747"/>
                      <a:pt x="79001" y="319593"/>
                    </a:cubicBezTo>
                    <a:cubicBezTo>
                      <a:pt x="79001" y="319593"/>
                      <a:pt x="79001" y="319593"/>
                      <a:pt x="79001" y="264179"/>
                    </a:cubicBezTo>
                    <a:cubicBezTo>
                      <a:pt x="79001" y="264179"/>
                      <a:pt x="79001" y="264179"/>
                      <a:pt x="37166" y="264179"/>
                    </a:cubicBezTo>
                    <a:cubicBezTo>
                      <a:pt x="18863" y="264179"/>
                      <a:pt x="3175" y="248715"/>
                      <a:pt x="3175" y="229385"/>
                    </a:cubicBezTo>
                    <a:cubicBezTo>
                      <a:pt x="3175" y="229385"/>
                      <a:pt x="3175" y="229385"/>
                      <a:pt x="3175" y="145621"/>
                    </a:cubicBezTo>
                    <a:cubicBezTo>
                      <a:pt x="3175" y="126291"/>
                      <a:pt x="18863" y="109538"/>
                      <a:pt x="38473" y="109538"/>
                    </a:cubicBezTo>
                    <a:close/>
                    <a:moveTo>
                      <a:pt x="160734" y="88900"/>
                    </a:moveTo>
                    <a:cubicBezTo>
                      <a:pt x="160734" y="88900"/>
                      <a:pt x="160734" y="88900"/>
                      <a:pt x="171053" y="88900"/>
                    </a:cubicBezTo>
                    <a:cubicBezTo>
                      <a:pt x="172343" y="88900"/>
                      <a:pt x="173633" y="90195"/>
                      <a:pt x="173633" y="90195"/>
                    </a:cubicBezTo>
                    <a:cubicBezTo>
                      <a:pt x="174923" y="92785"/>
                      <a:pt x="176213" y="94080"/>
                      <a:pt x="174923" y="95375"/>
                    </a:cubicBezTo>
                    <a:cubicBezTo>
                      <a:pt x="174923" y="95375"/>
                      <a:pt x="174923" y="95375"/>
                      <a:pt x="169763" y="103146"/>
                    </a:cubicBezTo>
                    <a:cubicBezTo>
                      <a:pt x="169763" y="103146"/>
                      <a:pt x="169763" y="103146"/>
                      <a:pt x="172343" y="123867"/>
                    </a:cubicBezTo>
                    <a:cubicBezTo>
                      <a:pt x="172343" y="123867"/>
                      <a:pt x="172343" y="123867"/>
                      <a:pt x="167184" y="136818"/>
                    </a:cubicBezTo>
                    <a:cubicBezTo>
                      <a:pt x="167184" y="138113"/>
                      <a:pt x="164604" y="138113"/>
                      <a:pt x="164604" y="136818"/>
                    </a:cubicBezTo>
                    <a:cubicBezTo>
                      <a:pt x="164604" y="136818"/>
                      <a:pt x="164604" y="136818"/>
                      <a:pt x="159444" y="123867"/>
                    </a:cubicBezTo>
                    <a:cubicBezTo>
                      <a:pt x="159444" y="123867"/>
                      <a:pt x="159444" y="123867"/>
                      <a:pt x="162024" y="103146"/>
                    </a:cubicBezTo>
                    <a:cubicBezTo>
                      <a:pt x="162024" y="103146"/>
                      <a:pt x="162024" y="103146"/>
                      <a:pt x="156865" y="95375"/>
                    </a:cubicBezTo>
                    <a:cubicBezTo>
                      <a:pt x="155575" y="94080"/>
                      <a:pt x="156865" y="92785"/>
                      <a:pt x="158155" y="90195"/>
                    </a:cubicBezTo>
                    <a:cubicBezTo>
                      <a:pt x="158155" y="90195"/>
                      <a:pt x="159444" y="88900"/>
                      <a:pt x="160734" y="88900"/>
                    </a:cubicBezTo>
                    <a:close/>
                    <a:moveTo>
                      <a:pt x="136182" y="88900"/>
                    </a:moveTo>
                    <a:cubicBezTo>
                      <a:pt x="137474" y="88900"/>
                      <a:pt x="138766" y="90201"/>
                      <a:pt x="138766" y="91502"/>
                    </a:cubicBezTo>
                    <a:cubicBezTo>
                      <a:pt x="138766" y="91502"/>
                      <a:pt x="138766" y="91502"/>
                      <a:pt x="165893" y="165652"/>
                    </a:cubicBezTo>
                    <a:cubicBezTo>
                      <a:pt x="165893" y="165652"/>
                      <a:pt x="165893" y="165652"/>
                      <a:pt x="193021" y="91502"/>
                    </a:cubicBezTo>
                    <a:cubicBezTo>
                      <a:pt x="193021" y="90201"/>
                      <a:pt x="195605" y="88900"/>
                      <a:pt x="196897" y="90201"/>
                    </a:cubicBezTo>
                    <a:cubicBezTo>
                      <a:pt x="196897" y="90201"/>
                      <a:pt x="196897" y="90201"/>
                      <a:pt x="208523" y="92802"/>
                    </a:cubicBezTo>
                    <a:cubicBezTo>
                      <a:pt x="222733" y="98006"/>
                      <a:pt x="231775" y="111015"/>
                      <a:pt x="231775" y="125325"/>
                    </a:cubicBezTo>
                    <a:cubicBezTo>
                      <a:pt x="231775" y="125325"/>
                      <a:pt x="231775" y="125325"/>
                      <a:pt x="231775" y="176059"/>
                    </a:cubicBezTo>
                    <a:cubicBezTo>
                      <a:pt x="231775" y="179961"/>
                      <a:pt x="229192" y="182563"/>
                      <a:pt x="226608" y="182563"/>
                    </a:cubicBezTo>
                    <a:cubicBezTo>
                      <a:pt x="226608" y="182563"/>
                      <a:pt x="226608" y="182563"/>
                      <a:pt x="105179" y="182563"/>
                    </a:cubicBezTo>
                    <a:cubicBezTo>
                      <a:pt x="102595" y="182563"/>
                      <a:pt x="100012" y="179961"/>
                      <a:pt x="100012" y="176059"/>
                    </a:cubicBezTo>
                    <a:cubicBezTo>
                      <a:pt x="100012" y="176059"/>
                      <a:pt x="100012" y="176059"/>
                      <a:pt x="100012" y="125325"/>
                    </a:cubicBezTo>
                    <a:cubicBezTo>
                      <a:pt x="100012" y="111015"/>
                      <a:pt x="109054" y="98006"/>
                      <a:pt x="123264" y="92802"/>
                    </a:cubicBezTo>
                    <a:cubicBezTo>
                      <a:pt x="123264" y="92802"/>
                      <a:pt x="123264" y="92802"/>
                      <a:pt x="134890" y="90201"/>
                    </a:cubicBezTo>
                    <a:cubicBezTo>
                      <a:pt x="134890" y="88900"/>
                      <a:pt x="134890" y="88900"/>
                      <a:pt x="136182" y="88900"/>
                    </a:cubicBezTo>
                    <a:close/>
                    <a:moveTo>
                      <a:pt x="292100" y="19050"/>
                    </a:moveTo>
                    <a:cubicBezTo>
                      <a:pt x="314019" y="19050"/>
                      <a:pt x="331788" y="36819"/>
                      <a:pt x="331788" y="58738"/>
                    </a:cubicBezTo>
                    <a:cubicBezTo>
                      <a:pt x="331788" y="80657"/>
                      <a:pt x="314019" y="98426"/>
                      <a:pt x="292100" y="98426"/>
                    </a:cubicBezTo>
                    <a:cubicBezTo>
                      <a:pt x="270181" y="98426"/>
                      <a:pt x="252412" y="80657"/>
                      <a:pt x="252412" y="58738"/>
                    </a:cubicBezTo>
                    <a:cubicBezTo>
                      <a:pt x="252412" y="36819"/>
                      <a:pt x="270181" y="19050"/>
                      <a:pt x="292100" y="19050"/>
                    </a:cubicBezTo>
                    <a:close/>
                    <a:moveTo>
                      <a:pt x="39688" y="19050"/>
                    </a:moveTo>
                    <a:cubicBezTo>
                      <a:pt x="61607" y="19050"/>
                      <a:pt x="79376" y="36819"/>
                      <a:pt x="79376" y="58738"/>
                    </a:cubicBezTo>
                    <a:cubicBezTo>
                      <a:pt x="79376" y="80657"/>
                      <a:pt x="61607" y="98426"/>
                      <a:pt x="39688" y="98426"/>
                    </a:cubicBezTo>
                    <a:cubicBezTo>
                      <a:pt x="17769" y="98426"/>
                      <a:pt x="0" y="80657"/>
                      <a:pt x="0" y="58738"/>
                    </a:cubicBezTo>
                    <a:cubicBezTo>
                      <a:pt x="0" y="36819"/>
                      <a:pt x="17769" y="19050"/>
                      <a:pt x="39688" y="19050"/>
                    </a:cubicBezTo>
                    <a:close/>
                    <a:moveTo>
                      <a:pt x="165894" y="0"/>
                    </a:moveTo>
                    <a:cubicBezTo>
                      <a:pt x="187375" y="0"/>
                      <a:pt x="204788" y="17769"/>
                      <a:pt x="204788" y="39688"/>
                    </a:cubicBezTo>
                    <a:cubicBezTo>
                      <a:pt x="204788" y="61607"/>
                      <a:pt x="187375" y="79376"/>
                      <a:pt x="165894" y="79376"/>
                    </a:cubicBezTo>
                    <a:cubicBezTo>
                      <a:pt x="144413" y="79376"/>
                      <a:pt x="127000" y="61607"/>
                      <a:pt x="127000" y="39688"/>
                    </a:cubicBezTo>
                    <a:cubicBezTo>
                      <a:pt x="127000" y="17769"/>
                      <a:pt x="144413" y="0"/>
                      <a:pt x="1658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endParaRPr>
              </a:p>
            </p:txBody>
          </p:sp>
        </p:grpSp>
      </p:grpSp>
      <p:grpSp>
        <p:nvGrpSpPr>
          <p:cNvPr id="120" name="组合 119"/>
          <p:cNvGrpSpPr/>
          <p:nvPr/>
        </p:nvGrpSpPr>
        <p:grpSpPr>
          <a:xfrm>
            <a:off x="1811886" y="4204757"/>
            <a:ext cx="344125" cy="2319780"/>
            <a:chOff x="3524940" y="1600200"/>
            <a:chExt cx="595992" cy="4017641"/>
          </a:xfrm>
        </p:grpSpPr>
        <p:grpSp>
          <p:nvGrpSpPr>
            <p:cNvPr id="126" name="组合 125"/>
            <p:cNvGrpSpPr/>
            <p:nvPr/>
          </p:nvGrpSpPr>
          <p:grpSpPr>
            <a:xfrm>
              <a:off x="3524940" y="1600200"/>
              <a:ext cx="595992" cy="595992"/>
              <a:chOff x="1310696" y="1600200"/>
              <a:chExt cx="595992" cy="595992"/>
            </a:xfrm>
          </p:grpSpPr>
          <p:sp>
            <p:nvSpPr>
              <p:cNvPr id="133" name="椭圆 132"/>
              <p:cNvSpPr/>
              <p:nvPr/>
            </p:nvSpPr>
            <p:spPr>
              <a:xfrm>
                <a:off x="1310696" y="1600200"/>
                <a:ext cx="595992" cy="595992"/>
              </a:xfrm>
              <a:prstGeom prst="ellipse">
                <a:avLst/>
              </a:prstGeom>
              <a:solidFill>
                <a:srgbClr val="703881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34" name="任意多边形: 形状 133"/>
              <p:cNvSpPr/>
              <p:nvPr/>
            </p:nvSpPr>
            <p:spPr bwMode="auto">
              <a:xfrm>
                <a:off x="1518705" y="1804342"/>
                <a:ext cx="179973" cy="179973"/>
              </a:xfrm>
              <a:custGeom>
                <a:avLst/>
                <a:gdLst>
                  <a:gd name="connsiteX0" fmla="*/ 221853 w 338138"/>
                  <a:gd name="connsiteY0" fmla="*/ 169862 h 338138"/>
                  <a:gd name="connsiteX1" fmla="*/ 243284 w 338138"/>
                  <a:gd name="connsiteY1" fmla="*/ 169862 h 338138"/>
                  <a:gd name="connsiteX2" fmla="*/ 254000 w 338138"/>
                  <a:gd name="connsiteY2" fmla="*/ 180379 h 338138"/>
                  <a:gd name="connsiteX3" fmla="*/ 254000 w 338138"/>
                  <a:gd name="connsiteY3" fmla="*/ 243483 h 338138"/>
                  <a:gd name="connsiteX4" fmla="*/ 243284 w 338138"/>
                  <a:gd name="connsiteY4" fmla="*/ 254000 h 338138"/>
                  <a:gd name="connsiteX5" fmla="*/ 221853 w 338138"/>
                  <a:gd name="connsiteY5" fmla="*/ 254000 h 338138"/>
                  <a:gd name="connsiteX6" fmla="*/ 211137 w 338138"/>
                  <a:gd name="connsiteY6" fmla="*/ 243483 h 338138"/>
                  <a:gd name="connsiteX7" fmla="*/ 211137 w 338138"/>
                  <a:gd name="connsiteY7" fmla="*/ 180379 h 338138"/>
                  <a:gd name="connsiteX8" fmla="*/ 221853 w 338138"/>
                  <a:gd name="connsiteY8" fmla="*/ 169862 h 338138"/>
                  <a:gd name="connsiteX9" fmla="*/ 94853 w 338138"/>
                  <a:gd name="connsiteY9" fmla="*/ 127000 h 338138"/>
                  <a:gd name="connsiteX10" fmla="*/ 116284 w 338138"/>
                  <a:gd name="connsiteY10" fmla="*/ 127000 h 338138"/>
                  <a:gd name="connsiteX11" fmla="*/ 127000 w 338138"/>
                  <a:gd name="connsiteY11" fmla="*/ 137583 h 338138"/>
                  <a:gd name="connsiteX12" fmla="*/ 127000 w 338138"/>
                  <a:gd name="connsiteY12" fmla="*/ 243417 h 338138"/>
                  <a:gd name="connsiteX13" fmla="*/ 116284 w 338138"/>
                  <a:gd name="connsiteY13" fmla="*/ 254000 h 338138"/>
                  <a:gd name="connsiteX14" fmla="*/ 94853 w 338138"/>
                  <a:gd name="connsiteY14" fmla="*/ 254000 h 338138"/>
                  <a:gd name="connsiteX15" fmla="*/ 84137 w 338138"/>
                  <a:gd name="connsiteY15" fmla="*/ 243417 h 338138"/>
                  <a:gd name="connsiteX16" fmla="*/ 84137 w 338138"/>
                  <a:gd name="connsiteY16" fmla="*/ 137583 h 338138"/>
                  <a:gd name="connsiteX17" fmla="*/ 94853 w 338138"/>
                  <a:gd name="connsiteY17" fmla="*/ 127000 h 338138"/>
                  <a:gd name="connsiteX18" fmla="*/ 285353 w 338138"/>
                  <a:gd name="connsiteY18" fmla="*/ 85725 h 338138"/>
                  <a:gd name="connsiteX19" fmla="*/ 306784 w 338138"/>
                  <a:gd name="connsiteY19" fmla="*/ 85725 h 338138"/>
                  <a:gd name="connsiteX20" fmla="*/ 317500 w 338138"/>
                  <a:gd name="connsiteY20" fmla="*/ 96242 h 338138"/>
                  <a:gd name="connsiteX21" fmla="*/ 317500 w 338138"/>
                  <a:gd name="connsiteY21" fmla="*/ 243483 h 338138"/>
                  <a:gd name="connsiteX22" fmla="*/ 306784 w 338138"/>
                  <a:gd name="connsiteY22" fmla="*/ 254000 h 338138"/>
                  <a:gd name="connsiteX23" fmla="*/ 285353 w 338138"/>
                  <a:gd name="connsiteY23" fmla="*/ 254000 h 338138"/>
                  <a:gd name="connsiteX24" fmla="*/ 274637 w 338138"/>
                  <a:gd name="connsiteY24" fmla="*/ 243483 h 338138"/>
                  <a:gd name="connsiteX25" fmla="*/ 274637 w 338138"/>
                  <a:gd name="connsiteY25" fmla="*/ 96242 h 338138"/>
                  <a:gd name="connsiteX26" fmla="*/ 285353 w 338138"/>
                  <a:gd name="connsiteY26" fmla="*/ 85725 h 338138"/>
                  <a:gd name="connsiteX27" fmla="*/ 158353 w 338138"/>
                  <a:gd name="connsiteY27" fmla="*/ 42862 h 338138"/>
                  <a:gd name="connsiteX28" fmla="*/ 179784 w 338138"/>
                  <a:gd name="connsiteY28" fmla="*/ 42862 h 338138"/>
                  <a:gd name="connsiteX29" fmla="*/ 190500 w 338138"/>
                  <a:gd name="connsiteY29" fmla="*/ 53419 h 338138"/>
                  <a:gd name="connsiteX30" fmla="*/ 190500 w 338138"/>
                  <a:gd name="connsiteY30" fmla="*/ 243443 h 338138"/>
                  <a:gd name="connsiteX31" fmla="*/ 179784 w 338138"/>
                  <a:gd name="connsiteY31" fmla="*/ 254000 h 338138"/>
                  <a:gd name="connsiteX32" fmla="*/ 158353 w 338138"/>
                  <a:gd name="connsiteY32" fmla="*/ 254000 h 338138"/>
                  <a:gd name="connsiteX33" fmla="*/ 147637 w 338138"/>
                  <a:gd name="connsiteY33" fmla="*/ 243443 h 338138"/>
                  <a:gd name="connsiteX34" fmla="*/ 147637 w 338138"/>
                  <a:gd name="connsiteY34" fmla="*/ 53419 h 338138"/>
                  <a:gd name="connsiteX35" fmla="*/ 158353 w 338138"/>
                  <a:gd name="connsiteY35" fmla="*/ 42862 h 338138"/>
                  <a:gd name="connsiteX36" fmla="*/ 0 w 338138"/>
                  <a:gd name="connsiteY36" fmla="*/ 0 h 338138"/>
                  <a:gd name="connsiteX37" fmla="*/ 42267 w 338138"/>
                  <a:gd name="connsiteY37" fmla="*/ 0 h 338138"/>
                  <a:gd name="connsiteX38" fmla="*/ 42267 w 338138"/>
                  <a:gd name="connsiteY38" fmla="*/ 295871 h 338138"/>
                  <a:gd name="connsiteX39" fmla="*/ 338138 w 338138"/>
                  <a:gd name="connsiteY39" fmla="*/ 295871 h 338138"/>
                  <a:gd name="connsiteX40" fmla="*/ 338138 w 338138"/>
                  <a:gd name="connsiteY40" fmla="*/ 338138 h 338138"/>
                  <a:gd name="connsiteX41" fmla="*/ 21133 w 338138"/>
                  <a:gd name="connsiteY41" fmla="*/ 338138 h 338138"/>
                  <a:gd name="connsiteX42" fmla="*/ 0 w 338138"/>
                  <a:gd name="connsiteY42" fmla="*/ 317005 h 338138"/>
                  <a:gd name="connsiteX43" fmla="*/ 0 w 338138"/>
                  <a:gd name="connsiteY43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38138" h="338138">
                    <a:moveTo>
                      <a:pt x="221853" y="169862"/>
                    </a:moveTo>
                    <a:cubicBezTo>
                      <a:pt x="221853" y="169862"/>
                      <a:pt x="221853" y="169862"/>
                      <a:pt x="243284" y="169862"/>
                    </a:cubicBezTo>
                    <a:cubicBezTo>
                      <a:pt x="248642" y="169862"/>
                      <a:pt x="254000" y="175121"/>
                      <a:pt x="254000" y="180379"/>
                    </a:cubicBezTo>
                    <a:cubicBezTo>
                      <a:pt x="254000" y="180379"/>
                      <a:pt x="254000" y="180379"/>
                      <a:pt x="254000" y="243483"/>
                    </a:cubicBezTo>
                    <a:cubicBezTo>
                      <a:pt x="254000" y="248742"/>
                      <a:pt x="248642" y="254000"/>
                      <a:pt x="243284" y="254000"/>
                    </a:cubicBezTo>
                    <a:cubicBezTo>
                      <a:pt x="243284" y="254000"/>
                      <a:pt x="243284" y="254000"/>
                      <a:pt x="221853" y="254000"/>
                    </a:cubicBezTo>
                    <a:cubicBezTo>
                      <a:pt x="216495" y="254000"/>
                      <a:pt x="211137" y="248742"/>
                      <a:pt x="211137" y="243483"/>
                    </a:cubicBezTo>
                    <a:cubicBezTo>
                      <a:pt x="211137" y="243483"/>
                      <a:pt x="211137" y="243483"/>
                      <a:pt x="211137" y="180379"/>
                    </a:cubicBezTo>
                    <a:cubicBezTo>
                      <a:pt x="211137" y="175121"/>
                      <a:pt x="216495" y="169862"/>
                      <a:pt x="221853" y="169862"/>
                    </a:cubicBezTo>
                    <a:close/>
                    <a:moveTo>
                      <a:pt x="94853" y="127000"/>
                    </a:moveTo>
                    <a:cubicBezTo>
                      <a:pt x="94853" y="127000"/>
                      <a:pt x="94853" y="127000"/>
                      <a:pt x="116284" y="127000"/>
                    </a:cubicBezTo>
                    <a:cubicBezTo>
                      <a:pt x="121642" y="127000"/>
                      <a:pt x="127000" y="132292"/>
                      <a:pt x="127000" y="137583"/>
                    </a:cubicBezTo>
                    <a:cubicBezTo>
                      <a:pt x="127000" y="137583"/>
                      <a:pt x="127000" y="137583"/>
                      <a:pt x="127000" y="243417"/>
                    </a:cubicBezTo>
                    <a:cubicBezTo>
                      <a:pt x="127000" y="248708"/>
                      <a:pt x="121642" y="254000"/>
                      <a:pt x="116284" y="254000"/>
                    </a:cubicBezTo>
                    <a:cubicBezTo>
                      <a:pt x="116284" y="254000"/>
                      <a:pt x="116284" y="254000"/>
                      <a:pt x="94853" y="254000"/>
                    </a:cubicBezTo>
                    <a:cubicBezTo>
                      <a:pt x="89495" y="254000"/>
                      <a:pt x="84137" y="248708"/>
                      <a:pt x="84137" y="243417"/>
                    </a:cubicBezTo>
                    <a:cubicBezTo>
                      <a:pt x="84137" y="243417"/>
                      <a:pt x="84137" y="243417"/>
                      <a:pt x="84137" y="137583"/>
                    </a:cubicBezTo>
                    <a:cubicBezTo>
                      <a:pt x="84137" y="132292"/>
                      <a:pt x="89495" y="127000"/>
                      <a:pt x="94853" y="127000"/>
                    </a:cubicBezTo>
                    <a:close/>
                    <a:moveTo>
                      <a:pt x="285353" y="85725"/>
                    </a:moveTo>
                    <a:cubicBezTo>
                      <a:pt x="285353" y="85725"/>
                      <a:pt x="285353" y="85725"/>
                      <a:pt x="306784" y="85725"/>
                    </a:cubicBezTo>
                    <a:cubicBezTo>
                      <a:pt x="312142" y="85725"/>
                      <a:pt x="317500" y="90984"/>
                      <a:pt x="317500" y="96242"/>
                    </a:cubicBezTo>
                    <a:cubicBezTo>
                      <a:pt x="317500" y="96242"/>
                      <a:pt x="317500" y="96242"/>
                      <a:pt x="317500" y="243483"/>
                    </a:cubicBezTo>
                    <a:cubicBezTo>
                      <a:pt x="317500" y="248742"/>
                      <a:pt x="312142" y="254000"/>
                      <a:pt x="306784" y="254000"/>
                    </a:cubicBezTo>
                    <a:cubicBezTo>
                      <a:pt x="306784" y="254000"/>
                      <a:pt x="306784" y="254000"/>
                      <a:pt x="285353" y="254000"/>
                    </a:cubicBezTo>
                    <a:cubicBezTo>
                      <a:pt x="279995" y="254000"/>
                      <a:pt x="274637" y="248742"/>
                      <a:pt x="274637" y="243483"/>
                    </a:cubicBezTo>
                    <a:cubicBezTo>
                      <a:pt x="274637" y="243483"/>
                      <a:pt x="274637" y="243483"/>
                      <a:pt x="274637" y="96242"/>
                    </a:cubicBezTo>
                    <a:cubicBezTo>
                      <a:pt x="274637" y="90984"/>
                      <a:pt x="279995" y="85725"/>
                      <a:pt x="285353" y="85725"/>
                    </a:cubicBezTo>
                    <a:close/>
                    <a:moveTo>
                      <a:pt x="158353" y="42862"/>
                    </a:moveTo>
                    <a:cubicBezTo>
                      <a:pt x="158353" y="42862"/>
                      <a:pt x="158353" y="42862"/>
                      <a:pt x="179784" y="42862"/>
                    </a:cubicBezTo>
                    <a:cubicBezTo>
                      <a:pt x="185142" y="42862"/>
                      <a:pt x="190500" y="48140"/>
                      <a:pt x="190500" y="53419"/>
                    </a:cubicBezTo>
                    <a:cubicBezTo>
                      <a:pt x="190500" y="53419"/>
                      <a:pt x="190500" y="53419"/>
                      <a:pt x="190500" y="243443"/>
                    </a:cubicBezTo>
                    <a:cubicBezTo>
                      <a:pt x="190500" y="248722"/>
                      <a:pt x="185142" y="254000"/>
                      <a:pt x="179784" y="254000"/>
                    </a:cubicBezTo>
                    <a:cubicBezTo>
                      <a:pt x="179784" y="254000"/>
                      <a:pt x="179784" y="254000"/>
                      <a:pt x="158353" y="254000"/>
                    </a:cubicBezTo>
                    <a:cubicBezTo>
                      <a:pt x="152995" y="254000"/>
                      <a:pt x="147637" y="248722"/>
                      <a:pt x="147637" y="243443"/>
                    </a:cubicBezTo>
                    <a:cubicBezTo>
                      <a:pt x="147637" y="243443"/>
                      <a:pt x="147637" y="243443"/>
                      <a:pt x="147637" y="53419"/>
                    </a:cubicBezTo>
                    <a:cubicBezTo>
                      <a:pt x="147637" y="48140"/>
                      <a:pt x="152995" y="42862"/>
                      <a:pt x="158353" y="42862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42267" y="0"/>
                    </a:cubicBezTo>
                    <a:cubicBezTo>
                      <a:pt x="42267" y="0"/>
                      <a:pt x="42267" y="0"/>
                      <a:pt x="42267" y="295871"/>
                    </a:cubicBezTo>
                    <a:lnTo>
                      <a:pt x="338138" y="295871"/>
                    </a:lnTo>
                    <a:cubicBezTo>
                      <a:pt x="338138" y="295871"/>
                      <a:pt x="338138" y="295871"/>
                      <a:pt x="338138" y="338138"/>
                    </a:cubicBezTo>
                    <a:cubicBezTo>
                      <a:pt x="338138" y="338138"/>
                      <a:pt x="338138" y="338138"/>
                      <a:pt x="21133" y="338138"/>
                    </a:cubicBezTo>
                    <a:cubicBezTo>
                      <a:pt x="9246" y="338138"/>
                      <a:pt x="0" y="328892"/>
                      <a:pt x="0" y="317005"/>
                    </a:cubicBezTo>
                    <a:cubicBezTo>
                      <a:pt x="0" y="317005"/>
                      <a:pt x="0" y="3170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endParaRPr>
              </a:p>
            </p:txBody>
          </p:sp>
        </p:grpSp>
        <p:grpSp>
          <p:nvGrpSpPr>
            <p:cNvPr id="127" name="组合 126"/>
            <p:cNvGrpSpPr/>
            <p:nvPr/>
          </p:nvGrpSpPr>
          <p:grpSpPr>
            <a:xfrm>
              <a:off x="3524940" y="3339217"/>
              <a:ext cx="595992" cy="595992"/>
              <a:chOff x="1310696" y="3339217"/>
              <a:chExt cx="595992" cy="595992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1310696" y="3339217"/>
                <a:ext cx="595992" cy="595992"/>
              </a:xfrm>
              <a:prstGeom prst="ellipse">
                <a:avLst/>
              </a:prstGeom>
              <a:solidFill>
                <a:srgbClr val="703881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 bwMode="auto">
              <a:xfrm>
                <a:off x="1470535" y="3528650"/>
                <a:ext cx="259868" cy="224200"/>
              </a:xfrm>
              <a:custGeom>
                <a:avLst/>
                <a:gdLst>
                  <a:gd name="connsiteX0" fmla="*/ 19050 w 331788"/>
                  <a:gd name="connsiteY0" fmla="*/ 213226 h 286251"/>
                  <a:gd name="connsiteX1" fmla="*/ 151105 w 331788"/>
                  <a:gd name="connsiteY1" fmla="*/ 213226 h 286251"/>
                  <a:gd name="connsiteX2" fmla="*/ 151105 w 331788"/>
                  <a:gd name="connsiteY2" fmla="*/ 278564 h 286251"/>
                  <a:gd name="connsiteX3" fmla="*/ 152400 w 331788"/>
                  <a:gd name="connsiteY3" fmla="*/ 286251 h 286251"/>
                  <a:gd name="connsiteX4" fmla="*/ 25523 w 331788"/>
                  <a:gd name="connsiteY4" fmla="*/ 286251 h 286251"/>
                  <a:gd name="connsiteX5" fmla="*/ 19050 w 331788"/>
                  <a:gd name="connsiteY5" fmla="*/ 278564 h 286251"/>
                  <a:gd name="connsiteX6" fmla="*/ 19050 w 331788"/>
                  <a:gd name="connsiteY6" fmla="*/ 213226 h 286251"/>
                  <a:gd name="connsiteX7" fmla="*/ 185265 w 331788"/>
                  <a:gd name="connsiteY7" fmla="*/ 165601 h 286251"/>
                  <a:gd name="connsiteX8" fmla="*/ 308448 w 331788"/>
                  <a:gd name="connsiteY8" fmla="*/ 165601 h 286251"/>
                  <a:gd name="connsiteX9" fmla="*/ 313635 w 331788"/>
                  <a:gd name="connsiteY9" fmla="*/ 165601 h 286251"/>
                  <a:gd name="connsiteX10" fmla="*/ 331788 w 331788"/>
                  <a:gd name="connsiteY10" fmla="*/ 187421 h 286251"/>
                  <a:gd name="connsiteX11" fmla="*/ 331788 w 331788"/>
                  <a:gd name="connsiteY11" fmla="*/ 278550 h 286251"/>
                  <a:gd name="connsiteX12" fmla="*/ 324008 w 331788"/>
                  <a:gd name="connsiteY12" fmla="*/ 286251 h 286251"/>
                  <a:gd name="connsiteX13" fmla="*/ 169705 w 331788"/>
                  <a:gd name="connsiteY13" fmla="*/ 286251 h 286251"/>
                  <a:gd name="connsiteX14" fmla="*/ 161925 w 331788"/>
                  <a:gd name="connsiteY14" fmla="*/ 278550 h 286251"/>
                  <a:gd name="connsiteX15" fmla="*/ 161925 w 331788"/>
                  <a:gd name="connsiteY15" fmla="*/ 187421 h 286251"/>
                  <a:gd name="connsiteX16" fmla="*/ 168408 w 331788"/>
                  <a:gd name="connsiteY16" fmla="*/ 173302 h 286251"/>
                  <a:gd name="connsiteX17" fmla="*/ 174892 w 331788"/>
                  <a:gd name="connsiteY17" fmla="*/ 166885 h 286251"/>
                  <a:gd name="connsiteX18" fmla="*/ 185265 w 331788"/>
                  <a:gd name="connsiteY18" fmla="*/ 165601 h 286251"/>
                  <a:gd name="connsiteX19" fmla="*/ 59302 w 331788"/>
                  <a:gd name="connsiteY19" fmla="*/ 117976 h 286251"/>
                  <a:gd name="connsiteX20" fmla="*/ 78640 w 331788"/>
                  <a:gd name="connsiteY20" fmla="*/ 117976 h 286251"/>
                  <a:gd name="connsiteX21" fmla="*/ 86375 w 331788"/>
                  <a:gd name="connsiteY21" fmla="*/ 123154 h 286251"/>
                  <a:gd name="connsiteX22" fmla="*/ 94110 w 331788"/>
                  <a:gd name="connsiteY22" fmla="*/ 160692 h 286251"/>
                  <a:gd name="connsiteX23" fmla="*/ 95399 w 331788"/>
                  <a:gd name="connsiteY23" fmla="*/ 165870 h 286251"/>
                  <a:gd name="connsiteX24" fmla="*/ 96688 w 331788"/>
                  <a:gd name="connsiteY24" fmla="*/ 169753 h 286251"/>
                  <a:gd name="connsiteX25" fmla="*/ 96688 w 331788"/>
                  <a:gd name="connsiteY25" fmla="*/ 172342 h 286251"/>
                  <a:gd name="connsiteX26" fmla="*/ 103134 w 331788"/>
                  <a:gd name="connsiteY26" fmla="*/ 172342 h 286251"/>
                  <a:gd name="connsiteX27" fmla="*/ 103134 w 331788"/>
                  <a:gd name="connsiteY27" fmla="*/ 165870 h 286251"/>
                  <a:gd name="connsiteX28" fmla="*/ 103134 w 331788"/>
                  <a:gd name="connsiteY28" fmla="*/ 164576 h 286251"/>
                  <a:gd name="connsiteX29" fmla="*/ 104424 w 331788"/>
                  <a:gd name="connsiteY29" fmla="*/ 160692 h 286251"/>
                  <a:gd name="connsiteX30" fmla="*/ 112159 w 331788"/>
                  <a:gd name="connsiteY30" fmla="*/ 134804 h 286251"/>
                  <a:gd name="connsiteX31" fmla="*/ 107002 w 331788"/>
                  <a:gd name="connsiteY31" fmla="*/ 121859 h 286251"/>
                  <a:gd name="connsiteX32" fmla="*/ 109580 w 331788"/>
                  <a:gd name="connsiteY32" fmla="*/ 117976 h 286251"/>
                  <a:gd name="connsiteX33" fmla="*/ 121183 w 331788"/>
                  <a:gd name="connsiteY33" fmla="*/ 117976 h 286251"/>
                  <a:gd name="connsiteX34" fmla="*/ 125050 w 331788"/>
                  <a:gd name="connsiteY34" fmla="*/ 121859 h 286251"/>
                  <a:gd name="connsiteX35" fmla="*/ 118605 w 331788"/>
                  <a:gd name="connsiteY35" fmla="*/ 134804 h 286251"/>
                  <a:gd name="connsiteX36" fmla="*/ 126340 w 331788"/>
                  <a:gd name="connsiteY36" fmla="*/ 160692 h 286251"/>
                  <a:gd name="connsiteX37" fmla="*/ 126340 w 331788"/>
                  <a:gd name="connsiteY37" fmla="*/ 165870 h 286251"/>
                  <a:gd name="connsiteX38" fmla="*/ 127629 w 331788"/>
                  <a:gd name="connsiteY38" fmla="*/ 165870 h 286251"/>
                  <a:gd name="connsiteX39" fmla="*/ 127629 w 331788"/>
                  <a:gd name="connsiteY39" fmla="*/ 172342 h 286251"/>
                  <a:gd name="connsiteX40" fmla="*/ 134075 w 331788"/>
                  <a:gd name="connsiteY40" fmla="*/ 172342 h 286251"/>
                  <a:gd name="connsiteX41" fmla="*/ 134075 w 331788"/>
                  <a:gd name="connsiteY41" fmla="*/ 169753 h 286251"/>
                  <a:gd name="connsiteX42" fmla="*/ 135364 w 331788"/>
                  <a:gd name="connsiteY42" fmla="*/ 165870 h 286251"/>
                  <a:gd name="connsiteX43" fmla="*/ 136653 w 331788"/>
                  <a:gd name="connsiteY43" fmla="*/ 160692 h 286251"/>
                  <a:gd name="connsiteX44" fmla="*/ 144388 w 331788"/>
                  <a:gd name="connsiteY44" fmla="*/ 123154 h 286251"/>
                  <a:gd name="connsiteX45" fmla="*/ 152123 w 331788"/>
                  <a:gd name="connsiteY45" fmla="*/ 117976 h 286251"/>
                  <a:gd name="connsiteX46" fmla="*/ 171461 w 331788"/>
                  <a:gd name="connsiteY46" fmla="*/ 117976 h 286251"/>
                  <a:gd name="connsiteX47" fmla="*/ 192088 w 331788"/>
                  <a:gd name="connsiteY47" fmla="*/ 138687 h 286251"/>
                  <a:gd name="connsiteX48" fmla="*/ 192088 w 331788"/>
                  <a:gd name="connsiteY48" fmla="*/ 152926 h 286251"/>
                  <a:gd name="connsiteX49" fmla="*/ 184353 w 331788"/>
                  <a:gd name="connsiteY49" fmla="*/ 152926 h 286251"/>
                  <a:gd name="connsiteX50" fmla="*/ 163726 w 331788"/>
                  <a:gd name="connsiteY50" fmla="*/ 160692 h 286251"/>
                  <a:gd name="connsiteX51" fmla="*/ 158569 w 331788"/>
                  <a:gd name="connsiteY51" fmla="*/ 165870 h 286251"/>
                  <a:gd name="connsiteX52" fmla="*/ 154702 w 331788"/>
                  <a:gd name="connsiteY52" fmla="*/ 172342 h 286251"/>
                  <a:gd name="connsiteX53" fmla="*/ 150834 w 331788"/>
                  <a:gd name="connsiteY53" fmla="*/ 186581 h 286251"/>
                  <a:gd name="connsiteX54" fmla="*/ 150834 w 331788"/>
                  <a:gd name="connsiteY54" fmla="*/ 202114 h 286251"/>
                  <a:gd name="connsiteX55" fmla="*/ 10313 w 331788"/>
                  <a:gd name="connsiteY55" fmla="*/ 202114 h 286251"/>
                  <a:gd name="connsiteX56" fmla="*/ 0 w 331788"/>
                  <a:gd name="connsiteY56" fmla="*/ 190464 h 286251"/>
                  <a:gd name="connsiteX57" fmla="*/ 0 w 331788"/>
                  <a:gd name="connsiteY57" fmla="*/ 182698 h 286251"/>
                  <a:gd name="connsiteX58" fmla="*/ 10313 w 331788"/>
                  <a:gd name="connsiteY58" fmla="*/ 172342 h 286251"/>
                  <a:gd name="connsiteX59" fmla="*/ 38675 w 331788"/>
                  <a:gd name="connsiteY59" fmla="*/ 172342 h 286251"/>
                  <a:gd name="connsiteX60" fmla="*/ 38675 w 331788"/>
                  <a:gd name="connsiteY60" fmla="*/ 138687 h 286251"/>
                  <a:gd name="connsiteX61" fmla="*/ 59302 w 331788"/>
                  <a:gd name="connsiteY61" fmla="*/ 117976 h 286251"/>
                  <a:gd name="connsiteX62" fmla="*/ 206838 w 331788"/>
                  <a:gd name="connsiteY62" fmla="*/ 33838 h 286251"/>
                  <a:gd name="connsiteX63" fmla="*/ 208124 w 331788"/>
                  <a:gd name="connsiteY63" fmla="*/ 33838 h 286251"/>
                  <a:gd name="connsiteX64" fmla="*/ 278858 w 331788"/>
                  <a:gd name="connsiteY64" fmla="*/ 48038 h 286251"/>
                  <a:gd name="connsiteX65" fmla="*/ 296863 w 331788"/>
                  <a:gd name="connsiteY65" fmla="*/ 69984 h 286251"/>
                  <a:gd name="connsiteX66" fmla="*/ 296863 w 331788"/>
                  <a:gd name="connsiteY66" fmla="*/ 99676 h 286251"/>
                  <a:gd name="connsiteX67" fmla="*/ 246706 w 331788"/>
                  <a:gd name="connsiteY67" fmla="*/ 151313 h 286251"/>
                  <a:gd name="connsiteX68" fmla="*/ 195263 w 331788"/>
                  <a:gd name="connsiteY68" fmla="*/ 99676 h 286251"/>
                  <a:gd name="connsiteX69" fmla="*/ 195263 w 331788"/>
                  <a:gd name="connsiteY69" fmla="*/ 45456 h 286251"/>
                  <a:gd name="connsiteX70" fmla="*/ 206838 w 331788"/>
                  <a:gd name="connsiteY70" fmla="*/ 33838 h 286251"/>
                  <a:gd name="connsiteX71" fmla="*/ 150465 w 331788"/>
                  <a:gd name="connsiteY71" fmla="*/ 198 h 286251"/>
                  <a:gd name="connsiteX72" fmla="*/ 163513 w 331788"/>
                  <a:gd name="connsiteY72" fmla="*/ 10479 h 286251"/>
                  <a:gd name="connsiteX73" fmla="*/ 163513 w 331788"/>
                  <a:gd name="connsiteY73" fmla="*/ 60599 h 286251"/>
                  <a:gd name="connsiteX74" fmla="*/ 116540 w 331788"/>
                  <a:gd name="connsiteY74" fmla="*/ 106863 h 286251"/>
                  <a:gd name="connsiteX75" fmla="*/ 68263 w 331788"/>
                  <a:gd name="connsiteY75" fmla="*/ 60599 h 286251"/>
                  <a:gd name="connsiteX76" fmla="*/ 68263 w 331788"/>
                  <a:gd name="connsiteY76" fmla="*/ 33611 h 286251"/>
                  <a:gd name="connsiteX77" fmla="*/ 85225 w 331788"/>
                  <a:gd name="connsiteY77" fmla="*/ 13049 h 286251"/>
                  <a:gd name="connsiteX78" fmla="*/ 150465 w 331788"/>
                  <a:gd name="connsiteY78" fmla="*/ 198 h 286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331788" h="286251">
                    <a:moveTo>
                      <a:pt x="19050" y="213226"/>
                    </a:moveTo>
                    <a:lnTo>
                      <a:pt x="151105" y="213226"/>
                    </a:lnTo>
                    <a:cubicBezTo>
                      <a:pt x="151105" y="213226"/>
                      <a:pt x="151105" y="213226"/>
                      <a:pt x="151105" y="278564"/>
                    </a:cubicBezTo>
                    <a:cubicBezTo>
                      <a:pt x="151105" y="281126"/>
                      <a:pt x="152400" y="283689"/>
                      <a:pt x="152400" y="286251"/>
                    </a:cubicBezTo>
                    <a:cubicBezTo>
                      <a:pt x="152400" y="286251"/>
                      <a:pt x="152400" y="286251"/>
                      <a:pt x="25523" y="286251"/>
                    </a:cubicBezTo>
                    <a:cubicBezTo>
                      <a:pt x="21639" y="286251"/>
                      <a:pt x="19050" y="282408"/>
                      <a:pt x="19050" y="278564"/>
                    </a:cubicBezTo>
                    <a:cubicBezTo>
                      <a:pt x="19050" y="278564"/>
                      <a:pt x="19050" y="278564"/>
                      <a:pt x="19050" y="213226"/>
                    </a:cubicBezTo>
                    <a:close/>
                    <a:moveTo>
                      <a:pt x="185265" y="165601"/>
                    </a:moveTo>
                    <a:lnTo>
                      <a:pt x="308448" y="165601"/>
                    </a:lnTo>
                    <a:cubicBezTo>
                      <a:pt x="309745" y="165601"/>
                      <a:pt x="312338" y="165601"/>
                      <a:pt x="313635" y="165601"/>
                    </a:cubicBezTo>
                    <a:cubicBezTo>
                      <a:pt x="324008" y="168168"/>
                      <a:pt x="331788" y="177153"/>
                      <a:pt x="331788" y="187421"/>
                    </a:cubicBezTo>
                    <a:cubicBezTo>
                      <a:pt x="331788" y="187421"/>
                      <a:pt x="331788" y="187421"/>
                      <a:pt x="331788" y="278550"/>
                    </a:cubicBezTo>
                    <a:cubicBezTo>
                      <a:pt x="331788" y="282401"/>
                      <a:pt x="327898" y="286251"/>
                      <a:pt x="324008" y="286251"/>
                    </a:cubicBezTo>
                    <a:cubicBezTo>
                      <a:pt x="324008" y="286251"/>
                      <a:pt x="324008" y="286251"/>
                      <a:pt x="169705" y="286251"/>
                    </a:cubicBezTo>
                    <a:cubicBezTo>
                      <a:pt x="165815" y="286251"/>
                      <a:pt x="161925" y="282401"/>
                      <a:pt x="161925" y="278550"/>
                    </a:cubicBezTo>
                    <a:cubicBezTo>
                      <a:pt x="161925" y="278550"/>
                      <a:pt x="161925" y="278550"/>
                      <a:pt x="161925" y="187421"/>
                    </a:cubicBezTo>
                    <a:cubicBezTo>
                      <a:pt x="161925" y="182287"/>
                      <a:pt x="164518" y="177153"/>
                      <a:pt x="168408" y="173302"/>
                    </a:cubicBezTo>
                    <a:cubicBezTo>
                      <a:pt x="169705" y="170735"/>
                      <a:pt x="172298" y="168168"/>
                      <a:pt x="174892" y="166885"/>
                    </a:cubicBezTo>
                    <a:cubicBezTo>
                      <a:pt x="177485" y="165601"/>
                      <a:pt x="181375" y="165601"/>
                      <a:pt x="185265" y="165601"/>
                    </a:cubicBezTo>
                    <a:close/>
                    <a:moveTo>
                      <a:pt x="59302" y="117976"/>
                    </a:moveTo>
                    <a:cubicBezTo>
                      <a:pt x="59302" y="117976"/>
                      <a:pt x="59302" y="117976"/>
                      <a:pt x="78640" y="117976"/>
                    </a:cubicBezTo>
                    <a:cubicBezTo>
                      <a:pt x="82507" y="117976"/>
                      <a:pt x="85086" y="120565"/>
                      <a:pt x="86375" y="123154"/>
                    </a:cubicBezTo>
                    <a:cubicBezTo>
                      <a:pt x="86375" y="123154"/>
                      <a:pt x="86375" y="123154"/>
                      <a:pt x="94110" y="160692"/>
                    </a:cubicBezTo>
                    <a:cubicBezTo>
                      <a:pt x="94110" y="160692"/>
                      <a:pt x="94110" y="160692"/>
                      <a:pt x="95399" y="165870"/>
                    </a:cubicBezTo>
                    <a:cubicBezTo>
                      <a:pt x="95399" y="165870"/>
                      <a:pt x="95399" y="165870"/>
                      <a:pt x="96688" y="169753"/>
                    </a:cubicBezTo>
                    <a:cubicBezTo>
                      <a:pt x="96688" y="171048"/>
                      <a:pt x="96688" y="171048"/>
                      <a:pt x="96688" y="172342"/>
                    </a:cubicBezTo>
                    <a:cubicBezTo>
                      <a:pt x="96688" y="172342"/>
                      <a:pt x="96688" y="172342"/>
                      <a:pt x="103134" y="172342"/>
                    </a:cubicBezTo>
                    <a:cubicBezTo>
                      <a:pt x="103134" y="169753"/>
                      <a:pt x="103134" y="168459"/>
                      <a:pt x="103134" y="165870"/>
                    </a:cubicBezTo>
                    <a:cubicBezTo>
                      <a:pt x="103134" y="165870"/>
                      <a:pt x="103134" y="165870"/>
                      <a:pt x="103134" y="164576"/>
                    </a:cubicBezTo>
                    <a:cubicBezTo>
                      <a:pt x="103134" y="164576"/>
                      <a:pt x="103134" y="164576"/>
                      <a:pt x="104424" y="160692"/>
                    </a:cubicBezTo>
                    <a:cubicBezTo>
                      <a:pt x="104424" y="160692"/>
                      <a:pt x="104424" y="160692"/>
                      <a:pt x="112159" y="134804"/>
                    </a:cubicBezTo>
                    <a:cubicBezTo>
                      <a:pt x="112159" y="134804"/>
                      <a:pt x="112159" y="134804"/>
                      <a:pt x="107002" y="121859"/>
                    </a:cubicBezTo>
                    <a:cubicBezTo>
                      <a:pt x="105713" y="120565"/>
                      <a:pt x="107002" y="117976"/>
                      <a:pt x="109580" y="117976"/>
                    </a:cubicBezTo>
                    <a:cubicBezTo>
                      <a:pt x="109580" y="117976"/>
                      <a:pt x="109580" y="117976"/>
                      <a:pt x="121183" y="117976"/>
                    </a:cubicBezTo>
                    <a:cubicBezTo>
                      <a:pt x="123761" y="117976"/>
                      <a:pt x="125050" y="120565"/>
                      <a:pt x="125050" y="121859"/>
                    </a:cubicBezTo>
                    <a:cubicBezTo>
                      <a:pt x="125050" y="121859"/>
                      <a:pt x="125050" y="121859"/>
                      <a:pt x="118605" y="134804"/>
                    </a:cubicBezTo>
                    <a:cubicBezTo>
                      <a:pt x="118605" y="134804"/>
                      <a:pt x="118605" y="134804"/>
                      <a:pt x="126340" y="160692"/>
                    </a:cubicBezTo>
                    <a:cubicBezTo>
                      <a:pt x="126340" y="160692"/>
                      <a:pt x="126340" y="160692"/>
                      <a:pt x="126340" y="165870"/>
                    </a:cubicBezTo>
                    <a:cubicBezTo>
                      <a:pt x="127629" y="165870"/>
                      <a:pt x="127629" y="165870"/>
                      <a:pt x="127629" y="165870"/>
                    </a:cubicBezTo>
                    <a:cubicBezTo>
                      <a:pt x="127629" y="168459"/>
                      <a:pt x="127629" y="169753"/>
                      <a:pt x="127629" y="172342"/>
                    </a:cubicBezTo>
                    <a:cubicBezTo>
                      <a:pt x="127629" y="172342"/>
                      <a:pt x="127629" y="172342"/>
                      <a:pt x="134075" y="172342"/>
                    </a:cubicBezTo>
                    <a:cubicBezTo>
                      <a:pt x="134075" y="171048"/>
                      <a:pt x="134075" y="171048"/>
                      <a:pt x="134075" y="169753"/>
                    </a:cubicBezTo>
                    <a:cubicBezTo>
                      <a:pt x="134075" y="169753"/>
                      <a:pt x="134075" y="169753"/>
                      <a:pt x="135364" y="165870"/>
                    </a:cubicBezTo>
                    <a:cubicBezTo>
                      <a:pt x="135364" y="165870"/>
                      <a:pt x="135364" y="165870"/>
                      <a:pt x="136653" y="160692"/>
                    </a:cubicBezTo>
                    <a:cubicBezTo>
                      <a:pt x="136653" y="160692"/>
                      <a:pt x="136653" y="160692"/>
                      <a:pt x="144388" y="123154"/>
                    </a:cubicBezTo>
                    <a:cubicBezTo>
                      <a:pt x="145677" y="120565"/>
                      <a:pt x="148256" y="117976"/>
                      <a:pt x="152123" y="117976"/>
                    </a:cubicBezTo>
                    <a:cubicBezTo>
                      <a:pt x="152123" y="117976"/>
                      <a:pt x="152123" y="117976"/>
                      <a:pt x="171461" y="117976"/>
                    </a:cubicBezTo>
                    <a:cubicBezTo>
                      <a:pt x="183064" y="117976"/>
                      <a:pt x="192088" y="127037"/>
                      <a:pt x="192088" y="138687"/>
                    </a:cubicBezTo>
                    <a:cubicBezTo>
                      <a:pt x="192088" y="138687"/>
                      <a:pt x="192088" y="138687"/>
                      <a:pt x="192088" y="152926"/>
                    </a:cubicBezTo>
                    <a:cubicBezTo>
                      <a:pt x="192088" y="152926"/>
                      <a:pt x="192088" y="152926"/>
                      <a:pt x="184353" y="152926"/>
                    </a:cubicBezTo>
                    <a:cubicBezTo>
                      <a:pt x="176618" y="152926"/>
                      <a:pt x="168883" y="156809"/>
                      <a:pt x="163726" y="160692"/>
                    </a:cubicBezTo>
                    <a:cubicBezTo>
                      <a:pt x="161148" y="161987"/>
                      <a:pt x="159858" y="164576"/>
                      <a:pt x="158569" y="165870"/>
                    </a:cubicBezTo>
                    <a:cubicBezTo>
                      <a:pt x="157280" y="168459"/>
                      <a:pt x="155991" y="169753"/>
                      <a:pt x="154702" y="172342"/>
                    </a:cubicBezTo>
                    <a:cubicBezTo>
                      <a:pt x="152123" y="176225"/>
                      <a:pt x="150834" y="181403"/>
                      <a:pt x="150834" y="186581"/>
                    </a:cubicBezTo>
                    <a:cubicBezTo>
                      <a:pt x="150834" y="186581"/>
                      <a:pt x="150834" y="186581"/>
                      <a:pt x="150834" y="202114"/>
                    </a:cubicBezTo>
                    <a:cubicBezTo>
                      <a:pt x="150834" y="202114"/>
                      <a:pt x="150834" y="202114"/>
                      <a:pt x="10313" y="202114"/>
                    </a:cubicBezTo>
                    <a:cubicBezTo>
                      <a:pt x="5157" y="202114"/>
                      <a:pt x="0" y="196936"/>
                      <a:pt x="0" y="190464"/>
                    </a:cubicBezTo>
                    <a:cubicBezTo>
                      <a:pt x="0" y="190464"/>
                      <a:pt x="0" y="190464"/>
                      <a:pt x="0" y="182698"/>
                    </a:cubicBezTo>
                    <a:cubicBezTo>
                      <a:pt x="0" y="176225"/>
                      <a:pt x="5157" y="172342"/>
                      <a:pt x="10313" y="172342"/>
                    </a:cubicBezTo>
                    <a:cubicBezTo>
                      <a:pt x="10313" y="172342"/>
                      <a:pt x="10313" y="172342"/>
                      <a:pt x="38675" y="172342"/>
                    </a:cubicBezTo>
                    <a:cubicBezTo>
                      <a:pt x="38675" y="172342"/>
                      <a:pt x="38675" y="172342"/>
                      <a:pt x="38675" y="138687"/>
                    </a:cubicBezTo>
                    <a:cubicBezTo>
                      <a:pt x="38675" y="127037"/>
                      <a:pt x="47700" y="117976"/>
                      <a:pt x="59302" y="117976"/>
                    </a:cubicBezTo>
                    <a:close/>
                    <a:moveTo>
                      <a:pt x="206838" y="33838"/>
                    </a:moveTo>
                    <a:cubicBezTo>
                      <a:pt x="206838" y="33838"/>
                      <a:pt x="208124" y="33838"/>
                      <a:pt x="208124" y="33838"/>
                    </a:cubicBezTo>
                    <a:cubicBezTo>
                      <a:pt x="223557" y="36420"/>
                      <a:pt x="258281" y="44166"/>
                      <a:pt x="278858" y="48038"/>
                    </a:cubicBezTo>
                    <a:cubicBezTo>
                      <a:pt x="289147" y="50620"/>
                      <a:pt x="296863" y="59657"/>
                      <a:pt x="296863" y="69984"/>
                    </a:cubicBezTo>
                    <a:cubicBezTo>
                      <a:pt x="296863" y="69984"/>
                      <a:pt x="296863" y="69984"/>
                      <a:pt x="296863" y="99676"/>
                    </a:cubicBezTo>
                    <a:cubicBezTo>
                      <a:pt x="296863" y="128076"/>
                      <a:pt x="275000" y="151313"/>
                      <a:pt x="246706" y="151313"/>
                    </a:cubicBezTo>
                    <a:cubicBezTo>
                      <a:pt x="218412" y="151313"/>
                      <a:pt x="195263" y="128076"/>
                      <a:pt x="195263" y="99676"/>
                    </a:cubicBezTo>
                    <a:cubicBezTo>
                      <a:pt x="195263" y="99676"/>
                      <a:pt x="195263" y="99676"/>
                      <a:pt x="195263" y="45456"/>
                    </a:cubicBezTo>
                    <a:cubicBezTo>
                      <a:pt x="195263" y="39002"/>
                      <a:pt x="200407" y="33838"/>
                      <a:pt x="206838" y="33838"/>
                    </a:cubicBezTo>
                    <a:close/>
                    <a:moveTo>
                      <a:pt x="150465" y="198"/>
                    </a:moveTo>
                    <a:cubicBezTo>
                      <a:pt x="156989" y="-1087"/>
                      <a:pt x="163513" y="4053"/>
                      <a:pt x="163513" y="10479"/>
                    </a:cubicBezTo>
                    <a:cubicBezTo>
                      <a:pt x="163513" y="10479"/>
                      <a:pt x="163513" y="10479"/>
                      <a:pt x="163513" y="60599"/>
                    </a:cubicBezTo>
                    <a:cubicBezTo>
                      <a:pt x="163513" y="86301"/>
                      <a:pt x="142636" y="106863"/>
                      <a:pt x="116540" y="106863"/>
                    </a:cubicBezTo>
                    <a:cubicBezTo>
                      <a:pt x="90444" y="106863"/>
                      <a:pt x="68263" y="86301"/>
                      <a:pt x="68263" y="60599"/>
                    </a:cubicBezTo>
                    <a:cubicBezTo>
                      <a:pt x="68263" y="60599"/>
                      <a:pt x="68263" y="60599"/>
                      <a:pt x="68263" y="33611"/>
                    </a:cubicBezTo>
                    <a:cubicBezTo>
                      <a:pt x="68263" y="23330"/>
                      <a:pt x="76092" y="14334"/>
                      <a:pt x="85225" y="13049"/>
                    </a:cubicBezTo>
                    <a:cubicBezTo>
                      <a:pt x="104797" y="9194"/>
                      <a:pt x="137417" y="2768"/>
                      <a:pt x="150465" y="1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endParaRPr>
              </a:p>
            </p:txBody>
          </p:sp>
        </p:grpSp>
        <p:grpSp>
          <p:nvGrpSpPr>
            <p:cNvPr id="128" name="组合 127"/>
            <p:cNvGrpSpPr/>
            <p:nvPr/>
          </p:nvGrpSpPr>
          <p:grpSpPr>
            <a:xfrm>
              <a:off x="3524940" y="5021849"/>
              <a:ext cx="595992" cy="595992"/>
              <a:chOff x="1310696" y="5021849"/>
              <a:chExt cx="595992" cy="595992"/>
            </a:xfrm>
          </p:grpSpPr>
          <p:sp>
            <p:nvSpPr>
              <p:cNvPr id="129" name="椭圆 128"/>
              <p:cNvSpPr/>
              <p:nvPr/>
            </p:nvSpPr>
            <p:spPr>
              <a:xfrm>
                <a:off x="1310696" y="5021849"/>
                <a:ext cx="595992" cy="595992"/>
              </a:xfrm>
              <a:prstGeom prst="ellipse">
                <a:avLst/>
              </a:prstGeom>
              <a:solidFill>
                <a:srgbClr val="703881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30" name="任意多边形: 形状 129"/>
              <p:cNvSpPr/>
              <p:nvPr/>
            </p:nvSpPr>
            <p:spPr bwMode="auto">
              <a:xfrm>
                <a:off x="1518706" y="5225991"/>
                <a:ext cx="179973" cy="179973"/>
              </a:xfrm>
              <a:custGeom>
                <a:avLst/>
                <a:gdLst>
                  <a:gd name="connsiteX0" fmla="*/ 65088 w 331788"/>
                  <a:gd name="connsiteY0" fmla="*/ 223838 h 331788"/>
                  <a:gd name="connsiteX1" fmla="*/ 276226 w 331788"/>
                  <a:gd name="connsiteY1" fmla="*/ 223838 h 331788"/>
                  <a:gd name="connsiteX2" fmla="*/ 276226 w 331788"/>
                  <a:gd name="connsiteY2" fmla="*/ 265113 h 331788"/>
                  <a:gd name="connsiteX3" fmla="*/ 65088 w 331788"/>
                  <a:gd name="connsiteY3" fmla="*/ 265113 h 331788"/>
                  <a:gd name="connsiteX4" fmla="*/ 65088 w 331788"/>
                  <a:gd name="connsiteY4" fmla="*/ 157163 h 331788"/>
                  <a:gd name="connsiteX5" fmla="*/ 163513 w 331788"/>
                  <a:gd name="connsiteY5" fmla="*/ 157163 h 331788"/>
                  <a:gd name="connsiteX6" fmla="*/ 163513 w 331788"/>
                  <a:gd name="connsiteY6" fmla="*/ 198438 h 331788"/>
                  <a:gd name="connsiteX7" fmla="*/ 65088 w 331788"/>
                  <a:gd name="connsiteY7" fmla="*/ 198438 h 331788"/>
                  <a:gd name="connsiteX8" fmla="*/ 65088 w 331788"/>
                  <a:gd name="connsiteY8" fmla="*/ 90488 h 331788"/>
                  <a:gd name="connsiteX9" fmla="*/ 209551 w 331788"/>
                  <a:gd name="connsiteY9" fmla="*/ 90488 h 331788"/>
                  <a:gd name="connsiteX10" fmla="*/ 209551 w 331788"/>
                  <a:gd name="connsiteY10" fmla="*/ 133351 h 331788"/>
                  <a:gd name="connsiteX11" fmla="*/ 65088 w 331788"/>
                  <a:gd name="connsiteY11" fmla="*/ 133351 h 331788"/>
                  <a:gd name="connsiteX12" fmla="*/ 65088 w 331788"/>
                  <a:gd name="connsiteY12" fmla="*/ 25400 h 331788"/>
                  <a:gd name="connsiteX13" fmla="*/ 142876 w 331788"/>
                  <a:gd name="connsiteY13" fmla="*/ 25400 h 331788"/>
                  <a:gd name="connsiteX14" fmla="*/ 142876 w 331788"/>
                  <a:gd name="connsiteY14" fmla="*/ 66675 h 331788"/>
                  <a:gd name="connsiteX15" fmla="*/ 65088 w 331788"/>
                  <a:gd name="connsiteY15" fmla="*/ 66675 h 331788"/>
                  <a:gd name="connsiteX16" fmla="*/ 0 w 331788"/>
                  <a:gd name="connsiteY16" fmla="*/ 0 h 331788"/>
                  <a:gd name="connsiteX17" fmla="*/ 38100 w 331788"/>
                  <a:gd name="connsiteY17" fmla="*/ 0 h 331788"/>
                  <a:gd name="connsiteX18" fmla="*/ 38100 w 331788"/>
                  <a:gd name="connsiteY18" fmla="*/ 293688 h 331788"/>
                  <a:gd name="connsiteX19" fmla="*/ 331788 w 331788"/>
                  <a:gd name="connsiteY19" fmla="*/ 293688 h 331788"/>
                  <a:gd name="connsiteX20" fmla="*/ 331788 w 331788"/>
                  <a:gd name="connsiteY20" fmla="*/ 331788 h 331788"/>
                  <a:gd name="connsiteX21" fmla="*/ 0 w 331788"/>
                  <a:gd name="connsiteY21" fmla="*/ 331788 h 33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1788" h="331788">
                    <a:moveTo>
                      <a:pt x="65088" y="223838"/>
                    </a:moveTo>
                    <a:lnTo>
                      <a:pt x="276226" y="223838"/>
                    </a:lnTo>
                    <a:lnTo>
                      <a:pt x="276226" y="265113"/>
                    </a:lnTo>
                    <a:lnTo>
                      <a:pt x="65088" y="265113"/>
                    </a:lnTo>
                    <a:close/>
                    <a:moveTo>
                      <a:pt x="65088" y="157163"/>
                    </a:moveTo>
                    <a:lnTo>
                      <a:pt x="163513" y="157163"/>
                    </a:lnTo>
                    <a:lnTo>
                      <a:pt x="163513" y="198438"/>
                    </a:lnTo>
                    <a:lnTo>
                      <a:pt x="65088" y="198438"/>
                    </a:lnTo>
                    <a:close/>
                    <a:moveTo>
                      <a:pt x="65088" y="90488"/>
                    </a:moveTo>
                    <a:lnTo>
                      <a:pt x="209551" y="90488"/>
                    </a:lnTo>
                    <a:lnTo>
                      <a:pt x="209551" y="133351"/>
                    </a:lnTo>
                    <a:lnTo>
                      <a:pt x="65088" y="133351"/>
                    </a:lnTo>
                    <a:close/>
                    <a:moveTo>
                      <a:pt x="65088" y="25400"/>
                    </a:moveTo>
                    <a:lnTo>
                      <a:pt x="142876" y="25400"/>
                    </a:lnTo>
                    <a:lnTo>
                      <a:pt x="142876" y="66675"/>
                    </a:lnTo>
                    <a:lnTo>
                      <a:pt x="65088" y="66675"/>
                    </a:lnTo>
                    <a:close/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293688"/>
                    </a:lnTo>
                    <a:lnTo>
                      <a:pt x="331788" y="293688"/>
                    </a:lnTo>
                    <a:lnTo>
                      <a:pt x="331788" y="331788"/>
                    </a:lnTo>
                    <a:lnTo>
                      <a:pt x="0" y="3317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endParaRPr>
              </a:p>
            </p:txBody>
          </p:sp>
        </p:grpSp>
      </p:grpSp>
      <p:cxnSp>
        <p:nvCxnSpPr>
          <p:cNvPr id="121" name="连接符: 肘形 120"/>
          <p:cNvCxnSpPr>
            <a:stCxn id="133" idx="6"/>
            <a:endCxn id="129" idx="6"/>
          </p:cNvCxnSpPr>
          <p:nvPr/>
        </p:nvCxnSpPr>
        <p:spPr>
          <a:xfrm>
            <a:off x="2156011" y="4376820"/>
            <a:ext cx="12700" cy="1975655"/>
          </a:xfrm>
          <a:prstGeom prst="bentConnector3">
            <a:avLst>
              <a:gd name="adj1" fmla="val 1800000"/>
            </a:avLst>
          </a:prstGeom>
          <a:noFill/>
          <a:ln w="6350" cap="flat" cmpd="sng" algn="ctr">
            <a:solidFill>
              <a:srgbClr val="41B7D0"/>
            </a:solidFill>
            <a:prstDash val="solid"/>
            <a:miter lim="800000"/>
          </a:ln>
          <a:effectLst/>
        </p:spPr>
      </p:cxnSp>
      <p:cxnSp>
        <p:nvCxnSpPr>
          <p:cNvPr id="122" name="连接符: 肘形 121"/>
          <p:cNvCxnSpPr>
            <a:stCxn id="129" idx="6"/>
            <a:endCxn id="133" idx="6"/>
          </p:cNvCxnSpPr>
          <p:nvPr/>
        </p:nvCxnSpPr>
        <p:spPr>
          <a:xfrm flipV="1">
            <a:off x="2156011" y="4376820"/>
            <a:ext cx="12700" cy="1975655"/>
          </a:xfrm>
          <a:prstGeom prst="bentConnector3">
            <a:avLst>
              <a:gd name="adj1" fmla="val 1800000"/>
            </a:avLst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123" name="连接符: 肘形 122"/>
          <p:cNvCxnSpPr>
            <a:stCxn id="131" idx="6"/>
            <a:endCxn id="133" idx="6"/>
          </p:cNvCxnSpPr>
          <p:nvPr/>
        </p:nvCxnSpPr>
        <p:spPr>
          <a:xfrm flipV="1">
            <a:off x="2156011" y="4376820"/>
            <a:ext cx="12700" cy="1004106"/>
          </a:xfrm>
          <a:prstGeom prst="bentConnector3">
            <a:avLst>
              <a:gd name="adj1" fmla="val 1800000"/>
            </a:avLst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124" name="连接符: 肘形 123"/>
          <p:cNvCxnSpPr>
            <a:stCxn id="140" idx="2"/>
            <a:endCxn id="138" idx="2"/>
          </p:cNvCxnSpPr>
          <p:nvPr/>
        </p:nvCxnSpPr>
        <p:spPr>
          <a:xfrm rot="10800000">
            <a:off x="4444951" y="4376821"/>
            <a:ext cx="2" cy="1975654"/>
          </a:xfrm>
          <a:prstGeom prst="bentConnector3">
            <a:avLst>
              <a:gd name="adj1" fmla="val 11430100000"/>
            </a:avLst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cxnSp>
        <p:nvCxnSpPr>
          <p:cNvPr id="125" name="连接符: 肘形 124"/>
          <p:cNvCxnSpPr>
            <a:stCxn id="142" idx="2"/>
            <a:endCxn id="138" idx="2"/>
          </p:cNvCxnSpPr>
          <p:nvPr/>
        </p:nvCxnSpPr>
        <p:spPr>
          <a:xfrm rot="10800000">
            <a:off x="4444951" y="4376822"/>
            <a:ext cx="2" cy="1004105"/>
          </a:xfrm>
          <a:prstGeom prst="bentConnector3">
            <a:avLst>
              <a:gd name="adj1" fmla="val 11430100000"/>
            </a:avLst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grpSp>
        <p:nvGrpSpPr>
          <p:cNvPr id="102" name="组合 101"/>
          <p:cNvGrpSpPr/>
          <p:nvPr/>
        </p:nvGrpSpPr>
        <p:grpSpPr>
          <a:xfrm>
            <a:off x="4931371" y="4006370"/>
            <a:ext cx="1547957" cy="522700"/>
            <a:chOff x="7058797" y="2143663"/>
            <a:chExt cx="2241973" cy="905268"/>
          </a:xfrm>
        </p:grpSpPr>
        <p:sp>
          <p:nvSpPr>
            <p:cNvPr id="116" name="矩形 115"/>
            <p:cNvSpPr/>
            <p:nvPr/>
          </p:nvSpPr>
          <p:spPr>
            <a:xfrm>
              <a:off x="7058810" y="2613256"/>
              <a:ext cx="2219439" cy="4356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rPr>
                <a:t>密码攻击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7058797" y="2143663"/>
              <a:ext cx="2241973" cy="5227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rPr>
                <a:t>Crypto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4931372" y="5043647"/>
            <a:ext cx="1547959" cy="531038"/>
            <a:chOff x="7058811" y="2127267"/>
            <a:chExt cx="2241975" cy="919710"/>
          </a:xfrm>
        </p:grpSpPr>
        <p:sp>
          <p:nvSpPr>
            <p:cNvPr id="114" name="矩形 113"/>
            <p:cNvSpPr/>
            <p:nvPr/>
          </p:nvSpPr>
          <p:spPr>
            <a:xfrm>
              <a:off x="7058812" y="2613256"/>
              <a:ext cx="2219436" cy="433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rPr>
                <a:t>物联网安全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7058811" y="2127267"/>
              <a:ext cx="2241975" cy="5227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rPr>
                <a:t>IoT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4931372" y="6000425"/>
            <a:ext cx="1547956" cy="532951"/>
            <a:chOff x="7058810" y="2125910"/>
            <a:chExt cx="2241971" cy="923021"/>
          </a:xfrm>
        </p:grpSpPr>
        <p:sp>
          <p:nvSpPr>
            <p:cNvPr id="112" name="矩形 111"/>
            <p:cNvSpPr/>
            <p:nvPr/>
          </p:nvSpPr>
          <p:spPr>
            <a:xfrm>
              <a:off x="7058810" y="2613256"/>
              <a:ext cx="2219440" cy="4356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rPr>
                <a:t>安全杂项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7058810" y="2125910"/>
              <a:ext cx="2241971" cy="5227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Arial" panose="020B0704020202020204"/>
                  <a:ea typeface="微软雅黑" pitchFamily="34" charset="-122"/>
                </a:rPr>
                <a:t>Misc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endParaRPr>
            </a:p>
          </p:txBody>
        </p:sp>
      </p:grpSp>
      <p:sp>
        <p:nvSpPr>
          <p:cNvPr id="105" name="矩形 104"/>
          <p:cNvSpPr/>
          <p:nvPr/>
        </p:nvSpPr>
        <p:spPr>
          <a:xfrm>
            <a:off x="107869" y="4318362"/>
            <a:ext cx="1557528" cy="328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rPr>
              <a:t>网络攻防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704020202020204"/>
              <a:ea typeface="微软雅黑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331378" y="4032183"/>
            <a:ext cx="1386397" cy="394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rPr>
              <a:t>Web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704020202020204"/>
              <a:ea typeface="微软雅黑" pitchFamily="3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78941" y="5306275"/>
            <a:ext cx="1557528" cy="328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rPr>
              <a:t>逆向工程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704020202020204"/>
              <a:ea typeface="微软雅黑" pitchFamily="3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16894" y="5027296"/>
            <a:ext cx="1605035" cy="394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rPr>
              <a:t>Reverse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704020202020204"/>
              <a:ea typeface="微软雅黑" pitchFamily="3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22723" y="6288923"/>
            <a:ext cx="1557528" cy="328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rPr>
              <a:t>二进制漏洞利用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704020202020204"/>
              <a:ea typeface="微软雅黑" pitchFamily="3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300572" y="5987894"/>
            <a:ext cx="1421357" cy="394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</a:rPr>
              <a:t>Pwn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704020202020204"/>
              <a:ea typeface="微软雅黑" pitchFamily="34" charset="-122"/>
            </a:endParaRPr>
          </a:p>
        </p:txBody>
      </p:sp>
      <p:pic>
        <p:nvPicPr>
          <p:cNvPr id="111" name="图片 11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78" t="-18117" r="-2840" b="-14409"/>
          <a:stretch>
            <a:fillRect/>
          </a:stretch>
        </p:blipFill>
        <p:spPr>
          <a:xfrm>
            <a:off x="2657827" y="4686226"/>
            <a:ext cx="1292716" cy="1292597"/>
          </a:xfrm>
          <a:prstGeom prst="ellipse">
            <a:avLst/>
          </a:prstGeom>
          <a:ln>
            <a:solidFill>
              <a:srgbClr val="FFFF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6" b="4843"/>
          <a:stretch>
            <a:fillRect/>
          </a:stretch>
        </p:blipFill>
        <p:spPr>
          <a:xfrm>
            <a:off x="9678172" y="5472937"/>
            <a:ext cx="2275780" cy="1264797"/>
          </a:xfrm>
          <a:prstGeom prst="rect">
            <a:avLst/>
          </a:prstGeom>
          <a:effectLst>
            <a:outerShdw blurRad="127000" dist="38100" dir="2700000" algn="ctr" rotWithShape="0">
              <a:sysClr val="windowText" lastClr="000000">
                <a:alpha val="40000"/>
              </a:sys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446294" y="2753679"/>
            <a:ext cx="6313688" cy="116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580C6E"/>
                </a:solidFill>
                <a:latin typeface="微软雅黑" pitchFamily="34" charset="-122"/>
                <a:ea typeface="微软雅黑" pitchFamily="34" charset="-122"/>
              </a:rPr>
              <a:t>大赛的题目既包括网络攻防、逆向工程、二进制漏洞利用、密码攻击、安全杂项，也设置了前沿的物联网安全挑战，对平时难以实操的硬件安全提供尝试机会</a:t>
            </a:r>
            <a:endParaRPr lang="zh-CN" altLang="en-US" sz="2000" dirty="0">
              <a:solidFill>
                <a:srgbClr val="580C6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1282483" y="266308"/>
            <a:ext cx="8763938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清华大学第七届网络安全技术挑战赛（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THUCTF2023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）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方正清刻本悦宋简体" panose="02000000000000000000" pitchFamily="2" charset="-122"/>
              <a:cs typeface="Arial" panose="020B0704020202020204" pitchFamily="3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1282483" y="800099"/>
            <a:ext cx="10034804" cy="0"/>
          </a:xfrm>
          <a:prstGeom prst="line">
            <a:avLst/>
          </a:prstGeom>
          <a:ln>
            <a:solidFill>
              <a:srgbClr val="6608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形 42" descr="毕业帽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162" y="173829"/>
            <a:ext cx="748371" cy="748371"/>
          </a:xfrm>
          <a:prstGeom prst="rect">
            <a:avLst/>
          </a:prstGeom>
        </p:spPr>
      </p:pic>
      <p:grpSp>
        <p:nvGrpSpPr>
          <p:cNvPr id="44" name="组合 43"/>
          <p:cNvGrpSpPr>
            <a:grpSpLocks noChangeAspect="1"/>
          </p:cNvGrpSpPr>
          <p:nvPr/>
        </p:nvGrpSpPr>
        <p:grpSpPr>
          <a:xfrm>
            <a:off x="10224896" y="212521"/>
            <a:ext cx="1689291" cy="508374"/>
            <a:chOff x="2685028" y="2876682"/>
            <a:chExt cx="5502784" cy="1656004"/>
          </a:xfrm>
        </p:grpSpPr>
        <p:sp>
          <p:nvSpPr>
            <p:cNvPr id="45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sp>
          <p:nvSpPr>
            <p:cNvPr id="46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pic>
          <p:nvPicPr>
            <p:cNvPr id="47" name="图片 4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grpSp>
        <p:nvGrpSpPr>
          <p:cNvPr id="63" name="Group 7"/>
          <p:cNvGrpSpPr/>
          <p:nvPr/>
        </p:nvGrpSpPr>
        <p:grpSpPr>
          <a:xfrm>
            <a:off x="991709" y="1150190"/>
            <a:ext cx="10169029" cy="854970"/>
            <a:chOff x="991704" y="1520945"/>
            <a:chExt cx="10169029" cy="854970"/>
          </a:xfrm>
        </p:grpSpPr>
        <p:sp>
          <p:nvSpPr>
            <p:cNvPr id="64" name="矩形 63"/>
            <p:cNvSpPr/>
            <p:nvPr/>
          </p:nvSpPr>
          <p:spPr>
            <a:xfrm>
              <a:off x="1839578" y="1606972"/>
              <a:ext cx="929625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2023 </a:t>
              </a:r>
              <a:r>
                <a:rPr kumimoji="0" lang="zh-CN" alt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年，清华大学第七届网络安全技术挑战赛采用线上线下结合的方式，分为线上赛和线下 </a:t>
              </a:r>
              <a:r>
                <a:rPr kumimoji="0" lang="en-US" altLang="zh-CN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IoT </a:t>
              </a:r>
              <a:r>
                <a:rPr kumimoji="0" lang="zh-CN" alt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赛题，共吸引了来自不同院系专业的 </a:t>
              </a:r>
              <a:r>
                <a:rPr kumimoji="0" lang="en-US" altLang="zh-CN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127 </a:t>
              </a:r>
              <a:r>
                <a:rPr kumimoji="0" lang="zh-CN" alt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人参加比赛，其中本科生 </a:t>
              </a:r>
              <a:r>
                <a:rPr kumimoji="0" lang="en-US" altLang="zh-CN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71 </a:t>
              </a:r>
              <a:r>
                <a:rPr kumimoji="0" lang="zh-CN" alt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人。</a:t>
              </a:r>
              <a:endParaRPr kumimoji="0" lang="zh-CN" altLang="en-US" sz="1800" b="0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991704" y="1520945"/>
              <a:ext cx="10169029" cy="854970"/>
              <a:chOff x="896862" y="1654892"/>
              <a:chExt cx="12182370" cy="1024243"/>
            </a:xfrm>
          </p:grpSpPr>
          <p:sp>
            <p:nvSpPr>
              <p:cNvPr id="67" name="矩形: 圆角 66"/>
              <p:cNvSpPr/>
              <p:nvPr/>
            </p:nvSpPr>
            <p:spPr>
              <a:xfrm>
                <a:off x="896862" y="1818670"/>
                <a:ext cx="696686" cy="696686"/>
              </a:xfrm>
              <a:prstGeom prst="roundRect">
                <a:avLst/>
              </a:prstGeom>
              <a:solidFill>
                <a:srgbClr val="6608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charset="-122"/>
                  <a:ea typeface="等线" charset="-122"/>
                  <a:cs typeface="+mn-cs"/>
                </a:endParaRPr>
              </a:p>
            </p:txBody>
          </p:sp>
          <p:sp>
            <p:nvSpPr>
              <p:cNvPr id="68" name="矩形: 圆角 67"/>
              <p:cNvSpPr/>
              <p:nvPr/>
            </p:nvSpPr>
            <p:spPr>
              <a:xfrm>
                <a:off x="1737161" y="1654892"/>
                <a:ext cx="11342071" cy="1024243"/>
              </a:xfrm>
              <a:prstGeom prst="roundRect">
                <a:avLst/>
              </a:prstGeom>
              <a:noFill/>
              <a:ln w="317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charset="-122"/>
                  <a:ea typeface="等线" charset="-122"/>
                  <a:cs typeface="+mn-cs"/>
                </a:endParaRPr>
              </a:p>
            </p:txBody>
          </p:sp>
        </p:grpSp>
        <p:sp>
          <p:nvSpPr>
            <p:cNvPr id="66" name="iconfont-1191-866883"/>
            <p:cNvSpPr>
              <a:spLocks noChangeAspect="1"/>
            </p:cNvSpPr>
            <p:nvPr/>
          </p:nvSpPr>
          <p:spPr bwMode="auto">
            <a:xfrm>
              <a:off x="1109059" y="1799008"/>
              <a:ext cx="340981" cy="295998"/>
            </a:xfrm>
            <a:custGeom>
              <a:avLst/>
              <a:gdLst>
                <a:gd name="T0" fmla="*/ 3535 w 12901"/>
                <a:gd name="T1" fmla="*/ 11192 h 11200"/>
                <a:gd name="T2" fmla="*/ 2962 w 12901"/>
                <a:gd name="T3" fmla="*/ 10392 h 11200"/>
                <a:gd name="T4" fmla="*/ 1566 w 12901"/>
                <a:gd name="T5" fmla="*/ 8401 h 11200"/>
                <a:gd name="T6" fmla="*/ 766 w 12901"/>
                <a:gd name="T7" fmla="*/ 7262 h 11200"/>
                <a:gd name="T8" fmla="*/ 175 w 12901"/>
                <a:gd name="T9" fmla="*/ 4473 h 11200"/>
                <a:gd name="T10" fmla="*/ 1954 w 12901"/>
                <a:gd name="T11" fmla="*/ 2699 h 11200"/>
                <a:gd name="T12" fmla="*/ 3362 w 12901"/>
                <a:gd name="T13" fmla="*/ 3195 h 11200"/>
                <a:gd name="T14" fmla="*/ 1756 w 12901"/>
                <a:gd name="T15" fmla="*/ 3601 h 11200"/>
                <a:gd name="T16" fmla="*/ 840 w 12901"/>
                <a:gd name="T17" fmla="*/ 5766 h 11200"/>
                <a:gd name="T18" fmla="*/ 1907 w 12901"/>
                <a:gd name="T19" fmla="*/ 6948 h 11200"/>
                <a:gd name="T20" fmla="*/ 4421 w 12901"/>
                <a:gd name="T21" fmla="*/ 6507 h 11200"/>
                <a:gd name="T22" fmla="*/ 5309 w 12901"/>
                <a:gd name="T23" fmla="*/ 5878 h 11200"/>
                <a:gd name="T24" fmla="*/ 5246 w 12901"/>
                <a:gd name="T25" fmla="*/ 6529 h 11200"/>
                <a:gd name="T26" fmla="*/ 6986 w 12901"/>
                <a:gd name="T27" fmla="*/ 6785 h 11200"/>
                <a:gd name="T28" fmla="*/ 8839 w 12901"/>
                <a:gd name="T29" fmla="*/ 6550 h 11200"/>
                <a:gd name="T30" fmla="*/ 9320 w 12901"/>
                <a:gd name="T31" fmla="*/ 6629 h 11200"/>
                <a:gd name="T32" fmla="*/ 8787 w 12901"/>
                <a:gd name="T33" fmla="*/ 6232 h 11200"/>
                <a:gd name="T34" fmla="*/ 7960 w 12901"/>
                <a:gd name="T35" fmla="*/ 3996 h 11200"/>
                <a:gd name="T36" fmla="*/ 9104 w 12901"/>
                <a:gd name="T37" fmla="*/ 2351 h 11200"/>
                <a:gd name="T38" fmla="*/ 11466 w 12901"/>
                <a:gd name="T39" fmla="*/ 2313 h 11200"/>
                <a:gd name="T40" fmla="*/ 12623 w 12901"/>
                <a:gd name="T41" fmla="*/ 3780 h 11200"/>
                <a:gd name="T42" fmla="*/ 12408 w 12901"/>
                <a:gd name="T43" fmla="*/ 5548 h 11200"/>
                <a:gd name="T44" fmla="*/ 11449 w 12901"/>
                <a:gd name="T45" fmla="*/ 6560 h 11200"/>
                <a:gd name="T46" fmla="*/ 12839 w 12901"/>
                <a:gd name="T47" fmla="*/ 6661 h 11200"/>
                <a:gd name="T48" fmla="*/ 12042 w 12901"/>
                <a:gd name="T49" fmla="*/ 7774 h 11200"/>
                <a:gd name="T50" fmla="*/ 10468 w 12901"/>
                <a:gd name="T51" fmla="*/ 9980 h 11200"/>
                <a:gd name="T52" fmla="*/ 9453 w 12901"/>
                <a:gd name="T53" fmla="*/ 11197 h 11200"/>
                <a:gd name="T54" fmla="*/ 8827 w 12901"/>
                <a:gd name="T55" fmla="*/ 10461 h 11200"/>
                <a:gd name="T56" fmla="*/ 10206 w 12901"/>
                <a:gd name="T57" fmla="*/ 8923 h 11200"/>
                <a:gd name="T58" fmla="*/ 11312 w 12901"/>
                <a:gd name="T59" fmla="*/ 7502 h 11200"/>
                <a:gd name="T60" fmla="*/ 9534 w 12901"/>
                <a:gd name="T61" fmla="*/ 7365 h 11200"/>
                <a:gd name="T62" fmla="*/ 8899 w 12901"/>
                <a:gd name="T63" fmla="*/ 7679 h 11200"/>
                <a:gd name="T64" fmla="*/ 6730 w 12901"/>
                <a:gd name="T65" fmla="*/ 9745 h 11200"/>
                <a:gd name="T66" fmla="*/ 5133 w 12901"/>
                <a:gd name="T67" fmla="*/ 8761 h 11200"/>
                <a:gd name="T68" fmla="*/ 5458 w 12901"/>
                <a:gd name="T69" fmla="*/ 8145 h 11200"/>
                <a:gd name="T70" fmla="*/ 6665 w 12901"/>
                <a:gd name="T71" fmla="*/ 8928 h 11200"/>
                <a:gd name="T72" fmla="*/ 7673 w 12901"/>
                <a:gd name="T73" fmla="*/ 7631 h 11200"/>
                <a:gd name="T74" fmla="*/ 7499 w 12901"/>
                <a:gd name="T75" fmla="*/ 7402 h 11200"/>
                <a:gd name="T76" fmla="*/ 4362 w 12901"/>
                <a:gd name="T77" fmla="*/ 7577 h 11200"/>
                <a:gd name="T78" fmla="*/ 2611 w 12901"/>
                <a:gd name="T79" fmla="*/ 8071 h 11200"/>
                <a:gd name="T80" fmla="*/ 2752 w 12901"/>
                <a:gd name="T81" fmla="*/ 8643 h 11200"/>
                <a:gd name="T82" fmla="*/ 4128 w 12901"/>
                <a:gd name="T83" fmla="*/ 10463 h 11200"/>
                <a:gd name="T84" fmla="*/ 6464 w 12901"/>
                <a:gd name="T85" fmla="*/ 0 h 11200"/>
                <a:gd name="T86" fmla="*/ 8457 w 12901"/>
                <a:gd name="T87" fmla="*/ 858 h 11200"/>
                <a:gd name="T88" fmla="*/ 7753 w 12901"/>
                <a:gd name="T89" fmla="*/ 1981 h 11200"/>
                <a:gd name="T90" fmla="*/ 7068 w 12901"/>
                <a:gd name="T91" fmla="*/ 5162 h 11200"/>
                <a:gd name="T92" fmla="*/ 6747 w 12901"/>
                <a:gd name="T93" fmla="*/ 5492 h 11200"/>
                <a:gd name="T94" fmla="*/ 4270 w 12901"/>
                <a:gd name="T95" fmla="*/ 4415 h 11200"/>
                <a:gd name="T96" fmla="*/ 3737 w 12901"/>
                <a:gd name="T97" fmla="*/ 2314 h 11200"/>
                <a:gd name="T98" fmla="*/ 4809 w 12901"/>
                <a:gd name="T99" fmla="*/ 550 h 11200"/>
                <a:gd name="T100" fmla="*/ 6464 w 12901"/>
                <a:gd name="T101" fmla="*/ 0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901" h="11200">
                  <a:moveTo>
                    <a:pt x="6550" y="11197"/>
                  </a:moveTo>
                  <a:cubicBezTo>
                    <a:pt x="5598" y="11197"/>
                    <a:pt x="4646" y="11197"/>
                    <a:pt x="3693" y="11197"/>
                  </a:cubicBezTo>
                  <a:cubicBezTo>
                    <a:pt x="3641" y="11197"/>
                    <a:pt x="3587" y="11199"/>
                    <a:pt x="3535" y="11192"/>
                  </a:cubicBezTo>
                  <a:cubicBezTo>
                    <a:pt x="3513" y="11189"/>
                    <a:pt x="3486" y="11172"/>
                    <a:pt x="3473" y="11152"/>
                  </a:cubicBezTo>
                  <a:cubicBezTo>
                    <a:pt x="3406" y="11053"/>
                    <a:pt x="3347" y="10948"/>
                    <a:pt x="3280" y="10849"/>
                  </a:cubicBezTo>
                  <a:cubicBezTo>
                    <a:pt x="3176" y="10695"/>
                    <a:pt x="3068" y="10544"/>
                    <a:pt x="2962" y="10392"/>
                  </a:cubicBezTo>
                  <a:cubicBezTo>
                    <a:pt x="2801" y="10165"/>
                    <a:pt x="2639" y="9938"/>
                    <a:pt x="2480" y="9710"/>
                  </a:cubicBezTo>
                  <a:cubicBezTo>
                    <a:pt x="2341" y="9513"/>
                    <a:pt x="2205" y="9313"/>
                    <a:pt x="2067" y="9115"/>
                  </a:cubicBezTo>
                  <a:cubicBezTo>
                    <a:pt x="1901" y="8877"/>
                    <a:pt x="1733" y="8639"/>
                    <a:pt x="1566" y="8401"/>
                  </a:cubicBezTo>
                  <a:cubicBezTo>
                    <a:pt x="1500" y="8307"/>
                    <a:pt x="1436" y="8213"/>
                    <a:pt x="1371" y="8118"/>
                  </a:cubicBezTo>
                  <a:cubicBezTo>
                    <a:pt x="1220" y="7896"/>
                    <a:pt x="1070" y="7672"/>
                    <a:pt x="917" y="7451"/>
                  </a:cubicBezTo>
                  <a:cubicBezTo>
                    <a:pt x="871" y="7385"/>
                    <a:pt x="820" y="7323"/>
                    <a:pt x="766" y="7262"/>
                  </a:cubicBezTo>
                  <a:cubicBezTo>
                    <a:pt x="552" y="7021"/>
                    <a:pt x="432" y="6723"/>
                    <a:pt x="269" y="6451"/>
                  </a:cubicBezTo>
                  <a:cubicBezTo>
                    <a:pt x="213" y="6358"/>
                    <a:pt x="193" y="6242"/>
                    <a:pt x="162" y="6136"/>
                  </a:cubicBezTo>
                  <a:cubicBezTo>
                    <a:pt x="82" y="5864"/>
                    <a:pt x="0" y="4944"/>
                    <a:pt x="175" y="4473"/>
                  </a:cubicBezTo>
                  <a:cubicBezTo>
                    <a:pt x="272" y="4098"/>
                    <a:pt x="484" y="3789"/>
                    <a:pt x="725" y="3495"/>
                  </a:cubicBezTo>
                  <a:cubicBezTo>
                    <a:pt x="897" y="3285"/>
                    <a:pt x="1107" y="3120"/>
                    <a:pt x="1332" y="2981"/>
                  </a:cubicBezTo>
                  <a:cubicBezTo>
                    <a:pt x="1524" y="2862"/>
                    <a:pt x="1737" y="2776"/>
                    <a:pt x="1954" y="2699"/>
                  </a:cubicBezTo>
                  <a:cubicBezTo>
                    <a:pt x="2385" y="2545"/>
                    <a:pt x="2818" y="2549"/>
                    <a:pt x="3258" y="2599"/>
                  </a:cubicBezTo>
                  <a:cubicBezTo>
                    <a:pt x="3419" y="2617"/>
                    <a:pt x="3475" y="2691"/>
                    <a:pt x="3448" y="2853"/>
                  </a:cubicBezTo>
                  <a:cubicBezTo>
                    <a:pt x="3428" y="2968"/>
                    <a:pt x="3396" y="3082"/>
                    <a:pt x="3362" y="3195"/>
                  </a:cubicBezTo>
                  <a:cubicBezTo>
                    <a:pt x="3334" y="3286"/>
                    <a:pt x="3259" y="3308"/>
                    <a:pt x="3170" y="3309"/>
                  </a:cubicBezTo>
                  <a:cubicBezTo>
                    <a:pt x="2957" y="3311"/>
                    <a:pt x="2738" y="3292"/>
                    <a:pt x="2530" y="3329"/>
                  </a:cubicBezTo>
                  <a:cubicBezTo>
                    <a:pt x="2261" y="3377"/>
                    <a:pt x="2001" y="3465"/>
                    <a:pt x="1756" y="3601"/>
                  </a:cubicBezTo>
                  <a:cubicBezTo>
                    <a:pt x="1594" y="3691"/>
                    <a:pt x="1446" y="3795"/>
                    <a:pt x="1313" y="3919"/>
                  </a:cubicBezTo>
                  <a:cubicBezTo>
                    <a:pt x="1128" y="4090"/>
                    <a:pt x="992" y="4294"/>
                    <a:pt x="887" y="4530"/>
                  </a:cubicBezTo>
                  <a:cubicBezTo>
                    <a:pt x="702" y="4942"/>
                    <a:pt x="742" y="5351"/>
                    <a:pt x="840" y="5766"/>
                  </a:cubicBezTo>
                  <a:cubicBezTo>
                    <a:pt x="870" y="5892"/>
                    <a:pt x="911" y="6018"/>
                    <a:pt x="964" y="6136"/>
                  </a:cubicBezTo>
                  <a:cubicBezTo>
                    <a:pt x="1104" y="6440"/>
                    <a:pt x="1273" y="6729"/>
                    <a:pt x="1573" y="6898"/>
                  </a:cubicBezTo>
                  <a:cubicBezTo>
                    <a:pt x="1665" y="6950"/>
                    <a:pt x="1795" y="6950"/>
                    <a:pt x="1907" y="6948"/>
                  </a:cubicBezTo>
                  <a:cubicBezTo>
                    <a:pt x="2371" y="6937"/>
                    <a:pt x="2836" y="6915"/>
                    <a:pt x="3301" y="6898"/>
                  </a:cubicBezTo>
                  <a:cubicBezTo>
                    <a:pt x="3496" y="6891"/>
                    <a:pt x="3691" y="6886"/>
                    <a:pt x="3886" y="6878"/>
                  </a:cubicBezTo>
                  <a:cubicBezTo>
                    <a:pt x="4142" y="6868"/>
                    <a:pt x="4317" y="6732"/>
                    <a:pt x="4421" y="6507"/>
                  </a:cubicBezTo>
                  <a:cubicBezTo>
                    <a:pt x="4500" y="6337"/>
                    <a:pt x="4566" y="6160"/>
                    <a:pt x="4634" y="5985"/>
                  </a:cubicBezTo>
                  <a:cubicBezTo>
                    <a:pt x="4666" y="5902"/>
                    <a:pt x="4719" y="5854"/>
                    <a:pt x="4807" y="5856"/>
                  </a:cubicBezTo>
                  <a:cubicBezTo>
                    <a:pt x="4975" y="5860"/>
                    <a:pt x="5142" y="5863"/>
                    <a:pt x="5309" y="5878"/>
                  </a:cubicBezTo>
                  <a:cubicBezTo>
                    <a:pt x="5453" y="5891"/>
                    <a:pt x="5490" y="5975"/>
                    <a:pt x="5430" y="6107"/>
                  </a:cubicBezTo>
                  <a:cubicBezTo>
                    <a:pt x="5399" y="6174"/>
                    <a:pt x="5382" y="6248"/>
                    <a:pt x="5352" y="6316"/>
                  </a:cubicBezTo>
                  <a:cubicBezTo>
                    <a:pt x="5320" y="6388"/>
                    <a:pt x="5283" y="6459"/>
                    <a:pt x="5246" y="6529"/>
                  </a:cubicBezTo>
                  <a:cubicBezTo>
                    <a:pt x="5236" y="6548"/>
                    <a:pt x="5220" y="6564"/>
                    <a:pt x="5210" y="6583"/>
                  </a:cubicBezTo>
                  <a:cubicBezTo>
                    <a:pt x="5133" y="6728"/>
                    <a:pt x="5195" y="6828"/>
                    <a:pt x="5358" y="6824"/>
                  </a:cubicBezTo>
                  <a:cubicBezTo>
                    <a:pt x="5901" y="6811"/>
                    <a:pt x="6443" y="6798"/>
                    <a:pt x="6986" y="6785"/>
                  </a:cubicBezTo>
                  <a:cubicBezTo>
                    <a:pt x="7426" y="6775"/>
                    <a:pt x="7866" y="6768"/>
                    <a:pt x="8306" y="6750"/>
                  </a:cubicBezTo>
                  <a:cubicBezTo>
                    <a:pt x="8394" y="6746"/>
                    <a:pt x="8483" y="6704"/>
                    <a:pt x="8568" y="6672"/>
                  </a:cubicBezTo>
                  <a:cubicBezTo>
                    <a:pt x="8660" y="6636"/>
                    <a:pt x="8748" y="6589"/>
                    <a:pt x="8839" y="6550"/>
                  </a:cubicBezTo>
                  <a:cubicBezTo>
                    <a:pt x="8895" y="6525"/>
                    <a:pt x="8940" y="6537"/>
                    <a:pt x="8970" y="6596"/>
                  </a:cubicBezTo>
                  <a:cubicBezTo>
                    <a:pt x="9035" y="6719"/>
                    <a:pt x="9146" y="6743"/>
                    <a:pt x="9271" y="6731"/>
                  </a:cubicBezTo>
                  <a:cubicBezTo>
                    <a:pt x="9351" y="6723"/>
                    <a:pt x="9365" y="6691"/>
                    <a:pt x="9320" y="6629"/>
                  </a:cubicBezTo>
                  <a:cubicBezTo>
                    <a:pt x="9248" y="6531"/>
                    <a:pt x="9168" y="6452"/>
                    <a:pt x="9032" y="6450"/>
                  </a:cubicBezTo>
                  <a:cubicBezTo>
                    <a:pt x="8996" y="6449"/>
                    <a:pt x="8957" y="6407"/>
                    <a:pt x="8926" y="6378"/>
                  </a:cubicBezTo>
                  <a:cubicBezTo>
                    <a:pt x="8877" y="6332"/>
                    <a:pt x="8835" y="6279"/>
                    <a:pt x="8787" y="6232"/>
                  </a:cubicBezTo>
                  <a:cubicBezTo>
                    <a:pt x="8695" y="6141"/>
                    <a:pt x="8590" y="6060"/>
                    <a:pt x="8508" y="5961"/>
                  </a:cubicBezTo>
                  <a:cubicBezTo>
                    <a:pt x="8315" y="5726"/>
                    <a:pt x="8172" y="5465"/>
                    <a:pt x="8061" y="5176"/>
                  </a:cubicBezTo>
                  <a:cubicBezTo>
                    <a:pt x="7911" y="4786"/>
                    <a:pt x="7904" y="4393"/>
                    <a:pt x="7960" y="3996"/>
                  </a:cubicBezTo>
                  <a:cubicBezTo>
                    <a:pt x="7997" y="3734"/>
                    <a:pt x="8100" y="3487"/>
                    <a:pt x="8230" y="3250"/>
                  </a:cubicBezTo>
                  <a:cubicBezTo>
                    <a:pt x="8352" y="3030"/>
                    <a:pt x="8497" y="2832"/>
                    <a:pt x="8683" y="2666"/>
                  </a:cubicBezTo>
                  <a:cubicBezTo>
                    <a:pt x="8813" y="2550"/>
                    <a:pt x="8968" y="2461"/>
                    <a:pt x="9104" y="2351"/>
                  </a:cubicBezTo>
                  <a:cubicBezTo>
                    <a:pt x="9303" y="2191"/>
                    <a:pt x="9918" y="2030"/>
                    <a:pt x="9987" y="2030"/>
                  </a:cubicBezTo>
                  <a:cubicBezTo>
                    <a:pt x="10235" y="2028"/>
                    <a:pt x="10487" y="2011"/>
                    <a:pt x="10729" y="2047"/>
                  </a:cubicBezTo>
                  <a:cubicBezTo>
                    <a:pt x="10987" y="2086"/>
                    <a:pt x="11233" y="2182"/>
                    <a:pt x="11466" y="2313"/>
                  </a:cubicBezTo>
                  <a:cubicBezTo>
                    <a:pt x="11688" y="2436"/>
                    <a:pt x="11891" y="2581"/>
                    <a:pt x="12058" y="2770"/>
                  </a:cubicBezTo>
                  <a:cubicBezTo>
                    <a:pt x="12170" y="2897"/>
                    <a:pt x="12256" y="3045"/>
                    <a:pt x="12361" y="3179"/>
                  </a:cubicBezTo>
                  <a:cubicBezTo>
                    <a:pt x="12502" y="3357"/>
                    <a:pt x="12547" y="3576"/>
                    <a:pt x="12623" y="3780"/>
                  </a:cubicBezTo>
                  <a:cubicBezTo>
                    <a:pt x="12666" y="3897"/>
                    <a:pt x="12691" y="4027"/>
                    <a:pt x="12695" y="4152"/>
                  </a:cubicBezTo>
                  <a:cubicBezTo>
                    <a:pt x="12702" y="4372"/>
                    <a:pt x="12711" y="4596"/>
                    <a:pt x="12675" y="4811"/>
                  </a:cubicBezTo>
                  <a:cubicBezTo>
                    <a:pt x="12631" y="5068"/>
                    <a:pt x="12539" y="5316"/>
                    <a:pt x="12408" y="5548"/>
                  </a:cubicBezTo>
                  <a:cubicBezTo>
                    <a:pt x="12290" y="5759"/>
                    <a:pt x="12157" y="5956"/>
                    <a:pt x="11978" y="6115"/>
                  </a:cubicBezTo>
                  <a:cubicBezTo>
                    <a:pt x="11855" y="6226"/>
                    <a:pt x="11712" y="6315"/>
                    <a:pt x="11576" y="6411"/>
                  </a:cubicBezTo>
                  <a:cubicBezTo>
                    <a:pt x="11519" y="6451"/>
                    <a:pt x="11427" y="6471"/>
                    <a:pt x="11449" y="6560"/>
                  </a:cubicBezTo>
                  <a:cubicBezTo>
                    <a:pt x="11469" y="6646"/>
                    <a:pt x="11560" y="6639"/>
                    <a:pt x="11629" y="6638"/>
                  </a:cubicBezTo>
                  <a:cubicBezTo>
                    <a:pt x="11914" y="6631"/>
                    <a:pt x="12199" y="6614"/>
                    <a:pt x="12484" y="6613"/>
                  </a:cubicBezTo>
                  <a:cubicBezTo>
                    <a:pt x="12603" y="6613"/>
                    <a:pt x="12722" y="6641"/>
                    <a:pt x="12839" y="6661"/>
                  </a:cubicBezTo>
                  <a:cubicBezTo>
                    <a:pt x="12891" y="6670"/>
                    <a:pt x="12901" y="6719"/>
                    <a:pt x="12860" y="6739"/>
                  </a:cubicBezTo>
                  <a:cubicBezTo>
                    <a:pt x="12703" y="6818"/>
                    <a:pt x="12633" y="6972"/>
                    <a:pt x="12535" y="7099"/>
                  </a:cubicBezTo>
                  <a:cubicBezTo>
                    <a:pt x="12364" y="7318"/>
                    <a:pt x="12206" y="7548"/>
                    <a:pt x="12042" y="7774"/>
                  </a:cubicBezTo>
                  <a:cubicBezTo>
                    <a:pt x="11972" y="7872"/>
                    <a:pt x="11902" y="7970"/>
                    <a:pt x="11832" y="8068"/>
                  </a:cubicBezTo>
                  <a:cubicBezTo>
                    <a:pt x="11591" y="8401"/>
                    <a:pt x="11347" y="8733"/>
                    <a:pt x="11108" y="9068"/>
                  </a:cubicBezTo>
                  <a:cubicBezTo>
                    <a:pt x="10893" y="9371"/>
                    <a:pt x="10682" y="9677"/>
                    <a:pt x="10468" y="9980"/>
                  </a:cubicBezTo>
                  <a:cubicBezTo>
                    <a:pt x="10335" y="10166"/>
                    <a:pt x="10198" y="10350"/>
                    <a:pt x="10063" y="10535"/>
                  </a:cubicBezTo>
                  <a:cubicBezTo>
                    <a:pt x="9928" y="10719"/>
                    <a:pt x="9774" y="10894"/>
                    <a:pt x="9665" y="11093"/>
                  </a:cubicBezTo>
                  <a:cubicBezTo>
                    <a:pt x="9605" y="11200"/>
                    <a:pt x="9539" y="11197"/>
                    <a:pt x="9453" y="11197"/>
                  </a:cubicBezTo>
                  <a:cubicBezTo>
                    <a:pt x="8486" y="11197"/>
                    <a:pt x="7518" y="11197"/>
                    <a:pt x="6550" y="11197"/>
                  </a:cubicBezTo>
                  <a:close/>
                  <a:moveTo>
                    <a:pt x="6454" y="10459"/>
                  </a:moveTo>
                  <a:cubicBezTo>
                    <a:pt x="7245" y="10459"/>
                    <a:pt x="8036" y="10457"/>
                    <a:pt x="8827" y="10461"/>
                  </a:cubicBezTo>
                  <a:cubicBezTo>
                    <a:pt x="8960" y="10462"/>
                    <a:pt x="9062" y="10422"/>
                    <a:pt x="9142" y="10318"/>
                  </a:cubicBezTo>
                  <a:cubicBezTo>
                    <a:pt x="9345" y="10053"/>
                    <a:pt x="9548" y="9788"/>
                    <a:pt x="9751" y="9522"/>
                  </a:cubicBezTo>
                  <a:cubicBezTo>
                    <a:pt x="9903" y="9323"/>
                    <a:pt x="10054" y="9122"/>
                    <a:pt x="10206" y="8923"/>
                  </a:cubicBezTo>
                  <a:cubicBezTo>
                    <a:pt x="10363" y="8720"/>
                    <a:pt x="10521" y="8518"/>
                    <a:pt x="10679" y="8315"/>
                  </a:cubicBezTo>
                  <a:cubicBezTo>
                    <a:pt x="10871" y="8068"/>
                    <a:pt x="11063" y="7822"/>
                    <a:pt x="11256" y="7576"/>
                  </a:cubicBezTo>
                  <a:cubicBezTo>
                    <a:pt x="11275" y="7551"/>
                    <a:pt x="11296" y="7528"/>
                    <a:pt x="11312" y="7502"/>
                  </a:cubicBezTo>
                  <a:cubicBezTo>
                    <a:pt x="11357" y="7427"/>
                    <a:pt x="11339" y="7374"/>
                    <a:pt x="11253" y="7357"/>
                  </a:cubicBezTo>
                  <a:cubicBezTo>
                    <a:pt x="11178" y="7343"/>
                    <a:pt x="11099" y="7344"/>
                    <a:pt x="11022" y="7345"/>
                  </a:cubicBezTo>
                  <a:cubicBezTo>
                    <a:pt x="10526" y="7350"/>
                    <a:pt x="10030" y="7358"/>
                    <a:pt x="9534" y="7365"/>
                  </a:cubicBezTo>
                  <a:cubicBezTo>
                    <a:pt x="9431" y="7366"/>
                    <a:pt x="9329" y="7363"/>
                    <a:pt x="9227" y="7367"/>
                  </a:cubicBezTo>
                  <a:cubicBezTo>
                    <a:pt x="9087" y="7372"/>
                    <a:pt x="9045" y="7412"/>
                    <a:pt x="8998" y="7541"/>
                  </a:cubicBezTo>
                  <a:cubicBezTo>
                    <a:pt x="8979" y="7593"/>
                    <a:pt x="8942" y="7646"/>
                    <a:pt x="8899" y="7679"/>
                  </a:cubicBezTo>
                  <a:cubicBezTo>
                    <a:pt x="8741" y="7798"/>
                    <a:pt x="8573" y="7903"/>
                    <a:pt x="8417" y="8024"/>
                  </a:cubicBezTo>
                  <a:cubicBezTo>
                    <a:pt x="7870" y="8447"/>
                    <a:pt x="7398" y="8947"/>
                    <a:pt x="6948" y="9468"/>
                  </a:cubicBezTo>
                  <a:cubicBezTo>
                    <a:pt x="6871" y="9557"/>
                    <a:pt x="6810" y="9660"/>
                    <a:pt x="6730" y="9745"/>
                  </a:cubicBezTo>
                  <a:cubicBezTo>
                    <a:pt x="6633" y="9850"/>
                    <a:pt x="6541" y="9837"/>
                    <a:pt x="6447" y="9730"/>
                  </a:cubicBezTo>
                  <a:cubicBezTo>
                    <a:pt x="6376" y="9649"/>
                    <a:pt x="6301" y="9569"/>
                    <a:pt x="6219" y="9499"/>
                  </a:cubicBezTo>
                  <a:cubicBezTo>
                    <a:pt x="5886" y="9211"/>
                    <a:pt x="5527" y="8959"/>
                    <a:pt x="5133" y="8761"/>
                  </a:cubicBezTo>
                  <a:cubicBezTo>
                    <a:pt x="5086" y="8737"/>
                    <a:pt x="5043" y="8705"/>
                    <a:pt x="5002" y="8672"/>
                  </a:cubicBezTo>
                  <a:cubicBezTo>
                    <a:pt x="4886" y="8579"/>
                    <a:pt x="4898" y="8506"/>
                    <a:pt x="5025" y="8430"/>
                  </a:cubicBezTo>
                  <a:cubicBezTo>
                    <a:pt x="5173" y="8341"/>
                    <a:pt x="5317" y="8245"/>
                    <a:pt x="5458" y="8145"/>
                  </a:cubicBezTo>
                  <a:cubicBezTo>
                    <a:pt x="5568" y="8068"/>
                    <a:pt x="5662" y="8074"/>
                    <a:pt x="5753" y="8174"/>
                  </a:cubicBezTo>
                  <a:cubicBezTo>
                    <a:pt x="5981" y="8427"/>
                    <a:pt x="6211" y="8679"/>
                    <a:pt x="6442" y="8930"/>
                  </a:cubicBezTo>
                  <a:cubicBezTo>
                    <a:pt x="6515" y="9009"/>
                    <a:pt x="6592" y="9011"/>
                    <a:pt x="6665" y="8928"/>
                  </a:cubicBezTo>
                  <a:cubicBezTo>
                    <a:pt x="6724" y="8861"/>
                    <a:pt x="6773" y="8785"/>
                    <a:pt x="6827" y="8714"/>
                  </a:cubicBezTo>
                  <a:cubicBezTo>
                    <a:pt x="6985" y="8503"/>
                    <a:pt x="7140" y="8291"/>
                    <a:pt x="7302" y="8084"/>
                  </a:cubicBezTo>
                  <a:cubicBezTo>
                    <a:pt x="7422" y="7930"/>
                    <a:pt x="7556" y="7787"/>
                    <a:pt x="7673" y="7631"/>
                  </a:cubicBezTo>
                  <a:cubicBezTo>
                    <a:pt x="7708" y="7585"/>
                    <a:pt x="7728" y="7508"/>
                    <a:pt x="7715" y="7455"/>
                  </a:cubicBezTo>
                  <a:cubicBezTo>
                    <a:pt x="7708" y="7426"/>
                    <a:pt x="7618" y="7416"/>
                    <a:pt x="7564" y="7401"/>
                  </a:cubicBezTo>
                  <a:cubicBezTo>
                    <a:pt x="7544" y="7396"/>
                    <a:pt x="7520" y="7401"/>
                    <a:pt x="7499" y="7402"/>
                  </a:cubicBezTo>
                  <a:cubicBezTo>
                    <a:pt x="6963" y="7421"/>
                    <a:pt x="6427" y="7441"/>
                    <a:pt x="5892" y="7457"/>
                  </a:cubicBezTo>
                  <a:cubicBezTo>
                    <a:pt x="5544" y="7467"/>
                    <a:pt x="5197" y="7463"/>
                    <a:pt x="4850" y="7482"/>
                  </a:cubicBezTo>
                  <a:cubicBezTo>
                    <a:pt x="4686" y="7491"/>
                    <a:pt x="4519" y="7526"/>
                    <a:pt x="4362" y="7577"/>
                  </a:cubicBezTo>
                  <a:cubicBezTo>
                    <a:pt x="4251" y="7613"/>
                    <a:pt x="4154" y="7694"/>
                    <a:pt x="4050" y="7755"/>
                  </a:cubicBezTo>
                  <a:cubicBezTo>
                    <a:pt x="3760" y="7924"/>
                    <a:pt x="3443" y="8017"/>
                    <a:pt x="3112" y="8058"/>
                  </a:cubicBezTo>
                  <a:cubicBezTo>
                    <a:pt x="2947" y="8079"/>
                    <a:pt x="2778" y="8062"/>
                    <a:pt x="2611" y="8071"/>
                  </a:cubicBezTo>
                  <a:cubicBezTo>
                    <a:pt x="2562" y="8074"/>
                    <a:pt x="2490" y="8098"/>
                    <a:pt x="2473" y="8134"/>
                  </a:cubicBezTo>
                  <a:cubicBezTo>
                    <a:pt x="2456" y="8170"/>
                    <a:pt x="2483" y="8239"/>
                    <a:pt x="2510" y="8282"/>
                  </a:cubicBezTo>
                  <a:cubicBezTo>
                    <a:pt x="2586" y="8405"/>
                    <a:pt x="2676" y="8520"/>
                    <a:pt x="2752" y="8643"/>
                  </a:cubicBezTo>
                  <a:cubicBezTo>
                    <a:pt x="2905" y="8887"/>
                    <a:pt x="3051" y="9134"/>
                    <a:pt x="3202" y="9379"/>
                  </a:cubicBezTo>
                  <a:cubicBezTo>
                    <a:pt x="3378" y="9663"/>
                    <a:pt x="3557" y="9944"/>
                    <a:pt x="3733" y="10228"/>
                  </a:cubicBezTo>
                  <a:cubicBezTo>
                    <a:pt x="3824" y="10376"/>
                    <a:pt x="3932" y="10466"/>
                    <a:pt x="4128" y="10463"/>
                  </a:cubicBezTo>
                  <a:cubicBezTo>
                    <a:pt x="4903" y="10452"/>
                    <a:pt x="5679" y="10459"/>
                    <a:pt x="6454" y="10459"/>
                  </a:cubicBezTo>
                  <a:close/>
                  <a:moveTo>
                    <a:pt x="6454" y="10459"/>
                  </a:moveTo>
                  <a:close/>
                  <a:moveTo>
                    <a:pt x="6464" y="0"/>
                  </a:moveTo>
                  <a:cubicBezTo>
                    <a:pt x="6666" y="0"/>
                    <a:pt x="7214" y="112"/>
                    <a:pt x="7245" y="118"/>
                  </a:cubicBezTo>
                  <a:cubicBezTo>
                    <a:pt x="7472" y="161"/>
                    <a:pt x="7677" y="263"/>
                    <a:pt x="7864" y="384"/>
                  </a:cubicBezTo>
                  <a:cubicBezTo>
                    <a:pt x="8076" y="521"/>
                    <a:pt x="8271" y="687"/>
                    <a:pt x="8457" y="858"/>
                  </a:cubicBezTo>
                  <a:cubicBezTo>
                    <a:pt x="8567" y="959"/>
                    <a:pt x="8649" y="1092"/>
                    <a:pt x="8737" y="1216"/>
                  </a:cubicBezTo>
                  <a:cubicBezTo>
                    <a:pt x="8816" y="1327"/>
                    <a:pt x="8785" y="1413"/>
                    <a:pt x="8658" y="1450"/>
                  </a:cubicBezTo>
                  <a:cubicBezTo>
                    <a:pt x="8311" y="1551"/>
                    <a:pt x="8020" y="1747"/>
                    <a:pt x="7753" y="1981"/>
                  </a:cubicBezTo>
                  <a:cubicBezTo>
                    <a:pt x="7502" y="2201"/>
                    <a:pt x="7307" y="2465"/>
                    <a:pt x="7148" y="2761"/>
                  </a:cubicBezTo>
                  <a:cubicBezTo>
                    <a:pt x="6850" y="3315"/>
                    <a:pt x="6762" y="3902"/>
                    <a:pt x="6866" y="4515"/>
                  </a:cubicBezTo>
                  <a:cubicBezTo>
                    <a:pt x="6904" y="4736"/>
                    <a:pt x="6999" y="4947"/>
                    <a:pt x="7068" y="5162"/>
                  </a:cubicBezTo>
                  <a:cubicBezTo>
                    <a:pt x="7079" y="5194"/>
                    <a:pt x="7098" y="5223"/>
                    <a:pt x="7108" y="5256"/>
                  </a:cubicBezTo>
                  <a:cubicBezTo>
                    <a:pt x="7140" y="5364"/>
                    <a:pt x="7105" y="5433"/>
                    <a:pt x="6995" y="5458"/>
                  </a:cubicBezTo>
                  <a:cubicBezTo>
                    <a:pt x="6914" y="5477"/>
                    <a:pt x="6830" y="5488"/>
                    <a:pt x="6747" y="5492"/>
                  </a:cubicBezTo>
                  <a:cubicBezTo>
                    <a:pt x="6374" y="5510"/>
                    <a:pt x="6008" y="5506"/>
                    <a:pt x="5646" y="5376"/>
                  </a:cubicBezTo>
                  <a:cubicBezTo>
                    <a:pt x="5434" y="5301"/>
                    <a:pt x="5226" y="5222"/>
                    <a:pt x="5038" y="5108"/>
                  </a:cubicBezTo>
                  <a:cubicBezTo>
                    <a:pt x="4740" y="4927"/>
                    <a:pt x="4470" y="4707"/>
                    <a:pt x="4270" y="4415"/>
                  </a:cubicBezTo>
                  <a:cubicBezTo>
                    <a:pt x="4150" y="4240"/>
                    <a:pt x="4018" y="4064"/>
                    <a:pt x="3940" y="3869"/>
                  </a:cubicBezTo>
                  <a:cubicBezTo>
                    <a:pt x="3834" y="3601"/>
                    <a:pt x="3722" y="3326"/>
                    <a:pt x="3719" y="3028"/>
                  </a:cubicBezTo>
                  <a:cubicBezTo>
                    <a:pt x="3716" y="2790"/>
                    <a:pt x="3701" y="2547"/>
                    <a:pt x="3737" y="2314"/>
                  </a:cubicBezTo>
                  <a:cubicBezTo>
                    <a:pt x="3781" y="2031"/>
                    <a:pt x="3872" y="1758"/>
                    <a:pt x="4009" y="1500"/>
                  </a:cubicBezTo>
                  <a:cubicBezTo>
                    <a:pt x="4131" y="1270"/>
                    <a:pt x="4274" y="1059"/>
                    <a:pt x="4449" y="870"/>
                  </a:cubicBezTo>
                  <a:cubicBezTo>
                    <a:pt x="4558" y="753"/>
                    <a:pt x="4679" y="643"/>
                    <a:pt x="4809" y="550"/>
                  </a:cubicBezTo>
                  <a:cubicBezTo>
                    <a:pt x="4969" y="435"/>
                    <a:pt x="5140" y="332"/>
                    <a:pt x="5314" y="241"/>
                  </a:cubicBezTo>
                  <a:cubicBezTo>
                    <a:pt x="5420" y="186"/>
                    <a:pt x="5544" y="167"/>
                    <a:pt x="5656" y="124"/>
                  </a:cubicBezTo>
                  <a:cubicBezTo>
                    <a:pt x="5697" y="108"/>
                    <a:pt x="6260" y="0"/>
                    <a:pt x="6464" y="0"/>
                  </a:cubicBezTo>
                  <a:close/>
                  <a:moveTo>
                    <a:pt x="6464" y="0"/>
                  </a:move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9" name="矩形 68"/>
          <p:cNvSpPr/>
          <p:nvPr/>
        </p:nvSpPr>
        <p:spPr>
          <a:xfrm>
            <a:off x="991709" y="2284761"/>
            <a:ext cx="3730168" cy="2489200"/>
          </a:xfrm>
          <a:prstGeom prst="rect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charset="-122"/>
              <a:ea typeface="等线" charset="-122"/>
              <a:cs typeface="+mn-cs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85743" y="4854617"/>
            <a:ext cx="3736134" cy="1269736"/>
          </a:xfrm>
          <a:prstGeom prst="rect">
            <a:avLst/>
          </a:prstGeom>
          <a:solidFill>
            <a:srgbClr val="6608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charset="-122"/>
              <a:ea typeface="等线" charset="-122"/>
              <a:cs typeface="+mn-cs"/>
            </a:endParaRPr>
          </a:p>
        </p:txBody>
      </p:sp>
      <p:sp>
        <p:nvSpPr>
          <p:cNvPr id="71" name="sprout_231518"/>
          <p:cNvSpPr>
            <a:spLocks noChangeAspect="1"/>
          </p:cNvSpPr>
          <p:nvPr/>
        </p:nvSpPr>
        <p:spPr bwMode="auto">
          <a:xfrm>
            <a:off x="985743" y="4854617"/>
            <a:ext cx="1190168" cy="946799"/>
          </a:xfrm>
          <a:custGeom>
            <a:avLst/>
            <a:gdLst>
              <a:gd name="T0" fmla="*/ 12296 w 12828"/>
              <a:gd name="T1" fmla="*/ 6860 h 10203"/>
              <a:gd name="T2" fmla="*/ 12828 w 12828"/>
              <a:gd name="T3" fmla="*/ 6328 h 10203"/>
              <a:gd name="T4" fmla="*/ 10593 w 12828"/>
              <a:gd name="T5" fmla="*/ 4110 h 10203"/>
              <a:gd name="T6" fmla="*/ 8359 w 12828"/>
              <a:gd name="T7" fmla="*/ 6328 h 10203"/>
              <a:gd name="T8" fmla="*/ 8890 w 12828"/>
              <a:gd name="T9" fmla="*/ 6860 h 10203"/>
              <a:gd name="T10" fmla="*/ 10218 w 12828"/>
              <a:gd name="T11" fmla="*/ 5532 h 10203"/>
              <a:gd name="T12" fmla="*/ 10218 w 12828"/>
              <a:gd name="T13" fmla="*/ 10203 h 10203"/>
              <a:gd name="T14" fmla="*/ 10953 w 12828"/>
              <a:gd name="T15" fmla="*/ 10203 h 10203"/>
              <a:gd name="T16" fmla="*/ 10953 w 12828"/>
              <a:gd name="T17" fmla="*/ 5532 h 10203"/>
              <a:gd name="T18" fmla="*/ 12296 w 12828"/>
              <a:gd name="T19" fmla="*/ 6860 h 10203"/>
              <a:gd name="T20" fmla="*/ 6671 w 12828"/>
              <a:gd name="T21" fmla="*/ 8641 h 10203"/>
              <a:gd name="T22" fmla="*/ 6671 w 12828"/>
              <a:gd name="T23" fmla="*/ 3985 h 10203"/>
              <a:gd name="T24" fmla="*/ 5921 w 12828"/>
              <a:gd name="T25" fmla="*/ 3985 h 10203"/>
              <a:gd name="T26" fmla="*/ 5921 w 12828"/>
              <a:gd name="T27" fmla="*/ 8657 h 10203"/>
              <a:gd name="T28" fmla="*/ 4593 w 12828"/>
              <a:gd name="T29" fmla="*/ 7328 h 10203"/>
              <a:gd name="T30" fmla="*/ 4078 w 12828"/>
              <a:gd name="T31" fmla="*/ 7844 h 10203"/>
              <a:gd name="T32" fmla="*/ 6296 w 12828"/>
              <a:gd name="T33" fmla="*/ 10063 h 10203"/>
              <a:gd name="T34" fmla="*/ 8531 w 12828"/>
              <a:gd name="T35" fmla="*/ 7828 h 10203"/>
              <a:gd name="T36" fmla="*/ 8000 w 12828"/>
              <a:gd name="T37" fmla="*/ 7313 h 10203"/>
              <a:gd name="T38" fmla="*/ 6671 w 12828"/>
              <a:gd name="T39" fmla="*/ 8641 h 10203"/>
              <a:gd name="T40" fmla="*/ 3718 w 12828"/>
              <a:gd name="T41" fmla="*/ 9157 h 10203"/>
              <a:gd name="T42" fmla="*/ 2984 w 12828"/>
              <a:gd name="T43" fmla="*/ 9157 h 10203"/>
              <a:gd name="T44" fmla="*/ 750 w 12828"/>
              <a:gd name="T45" fmla="*/ 6922 h 10203"/>
              <a:gd name="T46" fmla="*/ 2984 w 12828"/>
              <a:gd name="T47" fmla="*/ 4688 h 10203"/>
              <a:gd name="T48" fmla="*/ 3015 w 12828"/>
              <a:gd name="T49" fmla="*/ 4688 h 10203"/>
              <a:gd name="T50" fmla="*/ 3375 w 12828"/>
              <a:gd name="T51" fmla="*/ 4688 h 10203"/>
              <a:gd name="T52" fmla="*/ 3640 w 12828"/>
              <a:gd name="T53" fmla="*/ 4563 h 10203"/>
              <a:gd name="T54" fmla="*/ 3718 w 12828"/>
              <a:gd name="T55" fmla="*/ 4141 h 10203"/>
              <a:gd name="T56" fmla="*/ 7078 w 12828"/>
              <a:gd name="T57" fmla="*/ 766 h 10203"/>
              <a:gd name="T58" fmla="*/ 9343 w 12828"/>
              <a:gd name="T59" fmla="*/ 1641 h 10203"/>
              <a:gd name="T60" fmla="*/ 9468 w 12828"/>
              <a:gd name="T61" fmla="*/ 1766 h 10203"/>
              <a:gd name="T62" fmla="*/ 9796 w 12828"/>
              <a:gd name="T63" fmla="*/ 1938 h 10203"/>
              <a:gd name="T64" fmla="*/ 10171 w 12828"/>
              <a:gd name="T65" fmla="*/ 1563 h 10203"/>
              <a:gd name="T66" fmla="*/ 10015 w 12828"/>
              <a:gd name="T67" fmla="*/ 1235 h 10203"/>
              <a:gd name="T68" fmla="*/ 9890 w 12828"/>
              <a:gd name="T69" fmla="*/ 1125 h 10203"/>
              <a:gd name="T70" fmla="*/ 7078 w 12828"/>
              <a:gd name="T71" fmla="*/ 0 h 10203"/>
              <a:gd name="T72" fmla="*/ 2968 w 12828"/>
              <a:gd name="T73" fmla="*/ 3907 h 10203"/>
              <a:gd name="T74" fmla="*/ 0 w 12828"/>
              <a:gd name="T75" fmla="*/ 6875 h 10203"/>
              <a:gd name="T76" fmla="*/ 2968 w 12828"/>
              <a:gd name="T77" fmla="*/ 9844 h 10203"/>
              <a:gd name="T78" fmla="*/ 3687 w 12828"/>
              <a:gd name="T79" fmla="*/ 9844 h 10203"/>
              <a:gd name="T80" fmla="*/ 4062 w 12828"/>
              <a:gd name="T81" fmla="*/ 9469 h 10203"/>
              <a:gd name="T82" fmla="*/ 3718 w 12828"/>
              <a:gd name="T83" fmla="*/ 9157 h 10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28" h="10203">
                <a:moveTo>
                  <a:pt x="12296" y="6860"/>
                </a:moveTo>
                <a:lnTo>
                  <a:pt x="12828" y="6328"/>
                </a:lnTo>
                <a:lnTo>
                  <a:pt x="10593" y="4110"/>
                </a:lnTo>
                <a:lnTo>
                  <a:pt x="8359" y="6328"/>
                </a:lnTo>
                <a:lnTo>
                  <a:pt x="8890" y="6860"/>
                </a:lnTo>
                <a:lnTo>
                  <a:pt x="10218" y="5532"/>
                </a:lnTo>
                <a:lnTo>
                  <a:pt x="10218" y="10203"/>
                </a:lnTo>
                <a:lnTo>
                  <a:pt x="10953" y="10203"/>
                </a:lnTo>
                <a:lnTo>
                  <a:pt x="10953" y="5532"/>
                </a:lnTo>
                <a:lnTo>
                  <a:pt x="12296" y="6860"/>
                </a:lnTo>
                <a:close/>
                <a:moveTo>
                  <a:pt x="6671" y="8641"/>
                </a:moveTo>
                <a:lnTo>
                  <a:pt x="6671" y="3985"/>
                </a:lnTo>
                <a:lnTo>
                  <a:pt x="5921" y="3985"/>
                </a:lnTo>
                <a:lnTo>
                  <a:pt x="5921" y="8657"/>
                </a:lnTo>
                <a:lnTo>
                  <a:pt x="4593" y="7328"/>
                </a:lnTo>
                <a:lnTo>
                  <a:pt x="4078" y="7844"/>
                </a:lnTo>
                <a:lnTo>
                  <a:pt x="6296" y="10063"/>
                </a:lnTo>
                <a:lnTo>
                  <a:pt x="8531" y="7828"/>
                </a:lnTo>
                <a:lnTo>
                  <a:pt x="8000" y="7313"/>
                </a:lnTo>
                <a:lnTo>
                  <a:pt x="6671" y="8641"/>
                </a:lnTo>
                <a:close/>
                <a:moveTo>
                  <a:pt x="3718" y="9157"/>
                </a:moveTo>
                <a:lnTo>
                  <a:pt x="2984" y="9157"/>
                </a:lnTo>
                <a:cubicBezTo>
                  <a:pt x="1750" y="9157"/>
                  <a:pt x="750" y="8157"/>
                  <a:pt x="750" y="6922"/>
                </a:cubicBezTo>
                <a:cubicBezTo>
                  <a:pt x="750" y="5688"/>
                  <a:pt x="1750" y="4688"/>
                  <a:pt x="2984" y="4688"/>
                </a:cubicBezTo>
                <a:lnTo>
                  <a:pt x="3015" y="4688"/>
                </a:lnTo>
                <a:lnTo>
                  <a:pt x="3375" y="4688"/>
                </a:lnTo>
                <a:cubicBezTo>
                  <a:pt x="3390" y="4688"/>
                  <a:pt x="3515" y="4703"/>
                  <a:pt x="3640" y="4563"/>
                </a:cubicBezTo>
                <a:cubicBezTo>
                  <a:pt x="3765" y="4422"/>
                  <a:pt x="3718" y="4297"/>
                  <a:pt x="3718" y="4141"/>
                </a:cubicBezTo>
                <a:cubicBezTo>
                  <a:pt x="3718" y="2282"/>
                  <a:pt x="5234" y="766"/>
                  <a:pt x="7078" y="766"/>
                </a:cubicBezTo>
                <a:cubicBezTo>
                  <a:pt x="7953" y="766"/>
                  <a:pt x="8750" y="1094"/>
                  <a:pt x="9343" y="1641"/>
                </a:cubicBezTo>
                <a:cubicBezTo>
                  <a:pt x="9406" y="1703"/>
                  <a:pt x="9390" y="1703"/>
                  <a:pt x="9468" y="1766"/>
                </a:cubicBezTo>
                <a:cubicBezTo>
                  <a:pt x="9546" y="1875"/>
                  <a:pt x="9656" y="1938"/>
                  <a:pt x="9796" y="1938"/>
                </a:cubicBezTo>
                <a:cubicBezTo>
                  <a:pt x="10000" y="1938"/>
                  <a:pt x="10171" y="1766"/>
                  <a:pt x="10171" y="1563"/>
                </a:cubicBezTo>
                <a:cubicBezTo>
                  <a:pt x="10171" y="1438"/>
                  <a:pt x="10109" y="1328"/>
                  <a:pt x="10015" y="1235"/>
                </a:cubicBezTo>
                <a:cubicBezTo>
                  <a:pt x="9953" y="1172"/>
                  <a:pt x="9968" y="1188"/>
                  <a:pt x="9890" y="1125"/>
                </a:cubicBezTo>
                <a:cubicBezTo>
                  <a:pt x="9156" y="422"/>
                  <a:pt x="8171" y="0"/>
                  <a:pt x="7078" y="0"/>
                </a:cubicBezTo>
                <a:cubicBezTo>
                  <a:pt x="4875" y="0"/>
                  <a:pt x="3078" y="1735"/>
                  <a:pt x="2968" y="3907"/>
                </a:cubicBezTo>
                <a:cubicBezTo>
                  <a:pt x="1328" y="3907"/>
                  <a:pt x="0" y="5235"/>
                  <a:pt x="0" y="6875"/>
                </a:cubicBezTo>
                <a:cubicBezTo>
                  <a:pt x="0" y="8516"/>
                  <a:pt x="1328" y="9844"/>
                  <a:pt x="2968" y="9844"/>
                </a:cubicBezTo>
                <a:lnTo>
                  <a:pt x="3687" y="9844"/>
                </a:lnTo>
                <a:cubicBezTo>
                  <a:pt x="3890" y="9844"/>
                  <a:pt x="4062" y="9672"/>
                  <a:pt x="4062" y="9469"/>
                </a:cubicBezTo>
                <a:cubicBezTo>
                  <a:pt x="4078" y="9313"/>
                  <a:pt x="3921" y="9157"/>
                  <a:pt x="3718" y="9157"/>
                </a:cubicBezTo>
                <a:close/>
              </a:path>
            </a:pathLst>
          </a:custGeom>
          <a:solidFill>
            <a:sysClr val="window" lastClr="FFFFFF">
              <a:alpha val="29000"/>
            </a:sysClr>
          </a:solidFill>
          <a:ln>
            <a:noFill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063524" y="4977561"/>
            <a:ext cx="3586537" cy="953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本次比赛设置了目前前沿的 </a:t>
            </a:r>
            <a:r>
              <a:rPr lang="en-US" altLang="zh-CN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IoT </a:t>
            </a: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安全赛题，为同学提供硬件题目条件，提供机会接触平时难以实操的硬件安全。</a:t>
            </a:r>
            <a:endParaRPr lang="zh-CN" altLang="en-US" sz="1600" dirty="0">
              <a:solidFill>
                <a:prstClr val="white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937777" y="2170892"/>
            <a:ext cx="5973963" cy="1080528"/>
          </a:xfrm>
          <a:prstGeom prst="rect">
            <a:avLst/>
          </a:prstGeom>
          <a:noFill/>
          <a:ln w="12700" cap="flat" cmpd="sng" algn="ctr">
            <a:solidFill>
              <a:srgbClr val="580C6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charset="-122"/>
              <a:ea typeface="等线" charset="-122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096000" y="2264217"/>
            <a:ext cx="47529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此次 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THUCTF 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大赛吸引了大量本科生参赛，其中有很多在网络安全方面“零基础”的学生也通过在比赛中学习知识完成了不少题目。</a:t>
            </a:r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017277" y="2429794"/>
            <a:ext cx="0" cy="576380"/>
          </a:xfrm>
          <a:prstGeom prst="line">
            <a:avLst/>
          </a:prstGeom>
          <a:noFill/>
          <a:ln w="6350" cap="flat" cmpd="sng" algn="ctr">
            <a:solidFill>
              <a:srgbClr val="580C6E"/>
            </a:solidFill>
            <a:prstDash val="solid"/>
            <a:miter lim="800000"/>
          </a:ln>
          <a:effectLst/>
        </p:spPr>
      </p:cxnSp>
      <p:sp>
        <p:nvSpPr>
          <p:cNvPr id="76" name="iconfont-11607-6151221"/>
          <p:cNvSpPr>
            <a:spLocks noChangeAspect="1"/>
          </p:cNvSpPr>
          <p:nvPr/>
        </p:nvSpPr>
        <p:spPr bwMode="auto">
          <a:xfrm>
            <a:off x="5191692" y="2428874"/>
            <a:ext cx="609685" cy="609685"/>
          </a:xfrm>
          <a:custGeom>
            <a:avLst/>
            <a:gdLst>
              <a:gd name="T0" fmla="*/ 0 w 12800"/>
              <a:gd name="T1" fmla="*/ 3899 h 12800"/>
              <a:gd name="T2" fmla="*/ 5870 w 12800"/>
              <a:gd name="T3" fmla="*/ 6678 h 12800"/>
              <a:gd name="T4" fmla="*/ 5870 w 12800"/>
              <a:gd name="T5" fmla="*/ 12800 h 12800"/>
              <a:gd name="T6" fmla="*/ 0 w 12800"/>
              <a:gd name="T7" fmla="*/ 10012 h 12800"/>
              <a:gd name="T8" fmla="*/ 0 w 12800"/>
              <a:gd name="T9" fmla="*/ 3899 h 12800"/>
              <a:gd name="T10" fmla="*/ 1068 w 12800"/>
              <a:gd name="T11" fmla="*/ 9295 h 12800"/>
              <a:gd name="T12" fmla="*/ 4802 w 12800"/>
              <a:gd name="T13" fmla="*/ 11069 h 12800"/>
              <a:gd name="T14" fmla="*/ 4802 w 12800"/>
              <a:gd name="T15" fmla="*/ 7396 h 12800"/>
              <a:gd name="T16" fmla="*/ 1068 w 12800"/>
              <a:gd name="T17" fmla="*/ 5628 h 12800"/>
              <a:gd name="T18" fmla="*/ 1068 w 12800"/>
              <a:gd name="T19" fmla="*/ 9295 h 12800"/>
              <a:gd name="T20" fmla="*/ 6410 w 12800"/>
              <a:gd name="T21" fmla="*/ 0 h 12800"/>
              <a:gd name="T22" fmla="*/ 12781 w 12800"/>
              <a:gd name="T23" fmla="*/ 2788 h 12800"/>
              <a:gd name="T24" fmla="*/ 6416 w 12800"/>
              <a:gd name="T25" fmla="*/ 5771 h 12800"/>
              <a:gd name="T26" fmla="*/ 0 w 12800"/>
              <a:gd name="T27" fmla="*/ 2775 h 12800"/>
              <a:gd name="T28" fmla="*/ 6410 w 12800"/>
              <a:gd name="T29" fmla="*/ 0 h 12800"/>
              <a:gd name="T30" fmla="*/ 6409 w 12800"/>
              <a:gd name="T31" fmla="*/ 1207 h 12800"/>
              <a:gd name="T32" fmla="*/ 2696 w 12800"/>
              <a:gd name="T33" fmla="*/ 2814 h 12800"/>
              <a:gd name="T34" fmla="*/ 6414 w 12800"/>
              <a:gd name="T35" fmla="*/ 4550 h 12800"/>
              <a:gd name="T36" fmla="*/ 10099 w 12800"/>
              <a:gd name="T37" fmla="*/ 2823 h 12800"/>
              <a:gd name="T38" fmla="*/ 6408 w 12800"/>
              <a:gd name="T39" fmla="*/ 1207 h 12800"/>
              <a:gd name="T40" fmla="*/ 6409 w 12800"/>
              <a:gd name="T41" fmla="*/ 1207 h 12800"/>
              <a:gd name="T42" fmla="*/ 12800 w 12800"/>
              <a:gd name="T43" fmla="*/ 3899 h 12800"/>
              <a:gd name="T44" fmla="*/ 12800 w 12800"/>
              <a:gd name="T45" fmla="*/ 10012 h 12800"/>
              <a:gd name="T46" fmla="*/ 6940 w 12800"/>
              <a:gd name="T47" fmla="*/ 12784 h 12800"/>
              <a:gd name="T48" fmla="*/ 6940 w 12800"/>
              <a:gd name="T49" fmla="*/ 6678 h 12800"/>
              <a:gd name="T50" fmla="*/ 12800 w 12800"/>
              <a:gd name="T51" fmla="*/ 3899 h 12800"/>
              <a:gd name="T52" fmla="*/ 8008 w 12800"/>
              <a:gd name="T53" fmla="*/ 7395 h 12800"/>
              <a:gd name="T54" fmla="*/ 8008 w 12800"/>
              <a:gd name="T55" fmla="*/ 11055 h 12800"/>
              <a:gd name="T56" fmla="*/ 11732 w 12800"/>
              <a:gd name="T57" fmla="*/ 9294 h 12800"/>
              <a:gd name="T58" fmla="*/ 11732 w 12800"/>
              <a:gd name="T59" fmla="*/ 5630 h 12800"/>
              <a:gd name="T60" fmla="*/ 8008 w 12800"/>
              <a:gd name="T61" fmla="*/ 7394 h 12800"/>
              <a:gd name="T62" fmla="*/ 8008 w 12800"/>
              <a:gd name="T63" fmla="*/ 7395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800" h="12800">
                <a:moveTo>
                  <a:pt x="0" y="3899"/>
                </a:moveTo>
                <a:lnTo>
                  <a:pt x="5870" y="6678"/>
                </a:lnTo>
                <a:lnTo>
                  <a:pt x="5870" y="12800"/>
                </a:lnTo>
                <a:lnTo>
                  <a:pt x="0" y="10012"/>
                </a:lnTo>
                <a:lnTo>
                  <a:pt x="0" y="3899"/>
                </a:lnTo>
                <a:close/>
                <a:moveTo>
                  <a:pt x="1068" y="9295"/>
                </a:moveTo>
                <a:lnTo>
                  <a:pt x="4802" y="11069"/>
                </a:lnTo>
                <a:lnTo>
                  <a:pt x="4802" y="7396"/>
                </a:lnTo>
                <a:lnTo>
                  <a:pt x="1068" y="5628"/>
                </a:lnTo>
                <a:lnTo>
                  <a:pt x="1068" y="9295"/>
                </a:lnTo>
                <a:close/>
                <a:moveTo>
                  <a:pt x="6410" y="0"/>
                </a:moveTo>
                <a:lnTo>
                  <a:pt x="12781" y="2788"/>
                </a:lnTo>
                <a:lnTo>
                  <a:pt x="6416" y="5771"/>
                </a:lnTo>
                <a:lnTo>
                  <a:pt x="0" y="2775"/>
                </a:lnTo>
                <a:lnTo>
                  <a:pt x="6410" y="0"/>
                </a:lnTo>
                <a:close/>
                <a:moveTo>
                  <a:pt x="6409" y="1207"/>
                </a:moveTo>
                <a:lnTo>
                  <a:pt x="2696" y="2814"/>
                </a:lnTo>
                <a:lnTo>
                  <a:pt x="6414" y="4550"/>
                </a:lnTo>
                <a:lnTo>
                  <a:pt x="10099" y="2823"/>
                </a:lnTo>
                <a:lnTo>
                  <a:pt x="6408" y="1207"/>
                </a:lnTo>
                <a:lnTo>
                  <a:pt x="6409" y="1207"/>
                </a:lnTo>
                <a:close/>
                <a:moveTo>
                  <a:pt x="12800" y="3899"/>
                </a:moveTo>
                <a:lnTo>
                  <a:pt x="12800" y="10012"/>
                </a:lnTo>
                <a:lnTo>
                  <a:pt x="6940" y="12784"/>
                </a:lnTo>
                <a:lnTo>
                  <a:pt x="6940" y="6678"/>
                </a:lnTo>
                <a:lnTo>
                  <a:pt x="12800" y="3899"/>
                </a:lnTo>
                <a:close/>
                <a:moveTo>
                  <a:pt x="8008" y="7395"/>
                </a:moveTo>
                <a:lnTo>
                  <a:pt x="8008" y="11055"/>
                </a:lnTo>
                <a:lnTo>
                  <a:pt x="11732" y="9294"/>
                </a:lnTo>
                <a:lnTo>
                  <a:pt x="11732" y="5630"/>
                </a:lnTo>
                <a:lnTo>
                  <a:pt x="8008" y="7394"/>
                </a:lnTo>
                <a:lnTo>
                  <a:pt x="8008" y="7395"/>
                </a:lnTo>
                <a:close/>
              </a:path>
            </a:pathLst>
          </a:custGeom>
          <a:solidFill>
            <a:srgbClr val="660874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7" name="组合 76"/>
          <p:cNvGrpSpPr/>
          <p:nvPr/>
        </p:nvGrpSpPr>
        <p:grpSpPr>
          <a:xfrm>
            <a:off x="4937777" y="3388643"/>
            <a:ext cx="361950" cy="254002"/>
            <a:chOff x="4940300" y="3428999"/>
            <a:chExt cx="457202" cy="254002"/>
          </a:xfrm>
          <a:solidFill>
            <a:srgbClr val="660874"/>
          </a:solidFill>
        </p:grpSpPr>
        <p:sp>
          <p:nvSpPr>
            <p:cNvPr id="78" name="箭头: V 形 77"/>
            <p:cNvSpPr/>
            <p:nvPr/>
          </p:nvSpPr>
          <p:spPr>
            <a:xfrm>
              <a:off x="4940300" y="3429000"/>
              <a:ext cx="254001" cy="25400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charset="-122"/>
                <a:ea typeface="等线" charset="-122"/>
                <a:cs typeface="+mn-cs"/>
              </a:endParaRPr>
            </a:p>
          </p:txBody>
        </p:sp>
        <p:sp>
          <p:nvSpPr>
            <p:cNvPr id="79" name="箭头: V 形 78"/>
            <p:cNvSpPr/>
            <p:nvPr/>
          </p:nvSpPr>
          <p:spPr>
            <a:xfrm>
              <a:off x="5143501" y="3428999"/>
              <a:ext cx="254001" cy="25400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charset="-122"/>
                <a:ea typeface="等线" charset="-122"/>
                <a:cs typeface="+mn-cs"/>
              </a:endParaRPr>
            </a:p>
          </p:txBody>
        </p:sp>
      </p:grpSp>
      <p:cxnSp>
        <p:nvCxnSpPr>
          <p:cNvPr id="80" name="直接连接符 79"/>
          <p:cNvCxnSpPr/>
          <p:nvPr/>
        </p:nvCxnSpPr>
        <p:spPr>
          <a:xfrm>
            <a:off x="4937777" y="3769645"/>
            <a:ext cx="6257468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ysDash"/>
            <a:miter lim="800000"/>
          </a:ln>
          <a:effectLst/>
        </p:spPr>
      </p:cxnSp>
      <p:sp>
        <p:nvSpPr>
          <p:cNvPr id="81" name="矩形 80"/>
          <p:cNvSpPr/>
          <p:nvPr/>
        </p:nvSpPr>
        <p:spPr>
          <a:xfrm>
            <a:off x="5299727" y="334566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本次比赛特点</a:t>
            </a:r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5056899" y="3987716"/>
            <a:ext cx="3624976" cy="1979689"/>
          </a:xfrm>
          <a:prstGeom prst="roundRect">
            <a:avLst>
              <a:gd name="adj" fmla="val 9433"/>
            </a:avLst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charset="-122"/>
              <a:ea typeface="等线" charset="-122"/>
              <a:cs typeface="+mn-cs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9031950" y="3378421"/>
            <a:ext cx="1879790" cy="2694058"/>
          </a:xfrm>
          <a:prstGeom prst="roundRect">
            <a:avLst>
              <a:gd name="adj" fmla="val 9433"/>
            </a:avLst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charset="-122"/>
              <a:ea typeface="等线" charset="-122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5440580" y="4145561"/>
            <a:ext cx="30958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首次与北京大学 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pkucc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战队共同参与命题，加强两校间的技术沟通交流。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196852" y="4143598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zh-CN" altLang="en-US" b="1" dirty="0">
                <a:solidFill>
                  <a:srgbClr val="580C6E"/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√</a:t>
            </a:r>
            <a:endParaRPr lang="zh-CN" altLang="en-US" b="1" dirty="0">
              <a:solidFill>
                <a:srgbClr val="580C6E"/>
              </a:solidFill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5440579" y="4976558"/>
            <a:ext cx="30958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进一步扩大校内外参赛规模，设置校外赛道，提高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THUCTF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赛事的校内外影响力。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196852" y="4974595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70C0"/>
              </a:buClr>
            </a:pPr>
            <a:r>
              <a:rPr lang="zh-CN" altLang="en-US" b="1" dirty="0">
                <a:solidFill>
                  <a:srgbClr val="580C6E"/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√</a:t>
            </a:r>
            <a:endParaRPr lang="zh-CN" altLang="en-US" b="1" dirty="0">
              <a:solidFill>
                <a:srgbClr val="580C6E"/>
              </a:solidFill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" b="295"/>
          <a:stretch>
            <a:fillRect/>
          </a:stretch>
        </p:blipFill>
        <p:spPr>
          <a:xfrm>
            <a:off x="9022893" y="3353278"/>
            <a:ext cx="1882361" cy="2719200"/>
          </a:xfrm>
          <a:prstGeom prst="roundRect">
            <a:avLst>
              <a:gd name="adj" fmla="val 8849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26" t="26827" r="-315" b="51189"/>
          <a:stretch>
            <a:fillRect/>
          </a:stretch>
        </p:blipFill>
        <p:spPr>
          <a:xfrm flipH="1">
            <a:off x="-1520191" y="1164346"/>
            <a:ext cx="8961740" cy="1415367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1282483" y="266308"/>
            <a:ext cx="810023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第八届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XCTF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国际网络攻防联赛分站赛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TPCTF 2023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方正清刻本悦宋简体" panose="02000000000000000000" pitchFamily="2" charset="-122"/>
              <a:cs typeface="Arial" panose="020B0704020202020204" pitchFamily="3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1282483" y="800099"/>
            <a:ext cx="10034804" cy="0"/>
          </a:xfrm>
          <a:prstGeom prst="line">
            <a:avLst/>
          </a:prstGeom>
          <a:ln>
            <a:solidFill>
              <a:srgbClr val="6608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形 42" descr="毕业帽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162" y="173829"/>
            <a:ext cx="748371" cy="748371"/>
          </a:xfrm>
          <a:prstGeom prst="rect">
            <a:avLst/>
          </a:prstGeom>
        </p:spPr>
      </p:pic>
      <p:grpSp>
        <p:nvGrpSpPr>
          <p:cNvPr id="65" name="组合 64"/>
          <p:cNvGrpSpPr>
            <a:grpSpLocks noChangeAspect="1"/>
          </p:cNvGrpSpPr>
          <p:nvPr/>
        </p:nvGrpSpPr>
        <p:grpSpPr>
          <a:xfrm>
            <a:off x="10224896" y="212521"/>
            <a:ext cx="1689291" cy="508374"/>
            <a:chOff x="2685028" y="2876682"/>
            <a:chExt cx="5502784" cy="1656004"/>
          </a:xfrm>
        </p:grpSpPr>
        <p:sp>
          <p:nvSpPr>
            <p:cNvPr id="66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sp>
          <p:nvSpPr>
            <p:cNvPr id="67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pic>
          <p:nvPicPr>
            <p:cNvPr id="68" name="图片 67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6827" r="40487" b="51189"/>
          <a:stretch>
            <a:fillRect/>
          </a:stretch>
        </p:blipFill>
        <p:spPr>
          <a:xfrm>
            <a:off x="7075672" y="1169698"/>
            <a:ext cx="5116328" cy="1415367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>
            <a:off x="0" y="1174914"/>
            <a:ext cx="17470877" cy="1415367"/>
          </a:xfrm>
          <a:prstGeom prst="rect">
            <a:avLst/>
          </a:prstGeom>
          <a:gradFill flip="none" rotWithShape="1">
            <a:gsLst>
              <a:gs pos="0">
                <a:srgbClr val="660874"/>
              </a:gs>
              <a:gs pos="49000">
                <a:srgbClr val="660874">
                  <a:alpha val="85000"/>
                </a:srgbClr>
              </a:gs>
              <a:gs pos="81000">
                <a:srgbClr val="660874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Arial" panose="020B0704020202020204" pitchFamily="34" charset="0"/>
              <a:ea typeface="微软雅黑 Light" panose="020B0502040204020203" charset="-122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63628" y="1267864"/>
            <a:ext cx="10531571" cy="1169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2023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日至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27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日，第八届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XCTF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国际网络攻防联赛分站赛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TPCTF 2023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顺利落幕。本次赛事由清华大学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Redbud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战队和北京大学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pkucc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战队首次作为联合体与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XCTF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国际联赛合作，吸引来自全球的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65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个国家和地区、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1765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人次共赴赛事。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7189542" y="2764343"/>
            <a:ext cx="4742695" cy="1178808"/>
          </a:xfrm>
          <a:prstGeom prst="roundRect">
            <a:avLst>
              <a:gd name="adj" fmla="val 8717"/>
            </a:avLst>
          </a:prstGeom>
          <a:solidFill>
            <a:sysClr val="window" lastClr="FFFFFF"/>
          </a:solidFill>
          <a:ln w="635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385914" y="3005857"/>
            <a:ext cx="130085" cy="342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00"/>
              </a:lnSpc>
              <a:defRPr/>
            </a:pPr>
            <a:endParaRPr lang="zh-CN" altLang="en-US" sz="2400" b="1" dirty="0">
              <a:gradFill flip="none" rotWithShape="1">
                <a:gsLst>
                  <a:gs pos="66000">
                    <a:srgbClr val="7D4DA1"/>
                  </a:gs>
                  <a:gs pos="0">
                    <a:srgbClr val="6E448F"/>
                  </a:gs>
                  <a:gs pos="100000">
                    <a:srgbClr val="2B2862"/>
                  </a:gs>
                </a:gsLst>
                <a:lin ang="0" scaled="1"/>
                <a:tileRect/>
              </a:gra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93" name="Docer Falling Dust PPT demo 13"/>
          <p:cNvSpPr txBox="1"/>
          <p:nvPr/>
        </p:nvSpPr>
        <p:spPr>
          <a:xfrm>
            <a:off x="7280457" y="3141943"/>
            <a:ext cx="4309745" cy="616281"/>
          </a:xfrm>
          <a:prstGeom prst="rect">
            <a:avLst/>
          </a:prstGeom>
          <a:noFill/>
        </p:spPr>
        <p:txBody>
          <a:bodyPr wrap="square" lIns="94002" tIns="47001" rIns="94002" bIns="4700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本次比赛由清华大学 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Redbud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战队和北京大学 </a:t>
            </a:r>
            <a:r>
              <a:rPr lang="en-US" altLang="zh-CN" sz="1200" dirty="0" err="1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pkucc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战队在校赛赛题基础上共同命制，赛题类型丰富。</a:t>
            </a:r>
            <a:endParaRPr lang="zh-CN" altLang="en-US" sz="1200" dirty="0">
              <a:solidFill>
                <a:srgbClr val="000000">
                  <a:lumMod val="50000"/>
                  <a:lumOff val="50000"/>
                </a:srgbClr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94" name="Docer Falling Dust PPT demo 12"/>
          <p:cNvSpPr txBox="1"/>
          <p:nvPr/>
        </p:nvSpPr>
        <p:spPr>
          <a:xfrm>
            <a:off x="7280457" y="2860010"/>
            <a:ext cx="2241684" cy="402697"/>
          </a:xfrm>
          <a:prstGeom prst="rect">
            <a:avLst/>
          </a:prstGeom>
          <a:solidFill>
            <a:srgbClr val="FFFFFF"/>
          </a:solidFill>
        </p:spPr>
        <p:txBody>
          <a:bodyPr wrap="none" lIns="94002" tIns="47001" rIns="94002" bIns="47001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881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ea"/>
                <a:sym typeface="+mn-lt"/>
              </a:rPr>
              <a:t>清北两校共同命题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703881"/>
              </a:solidFill>
              <a:effectLst/>
              <a:uLnTx/>
              <a:uFillTx/>
              <a:latin typeface="Arial" panose="020B0704020202020204"/>
              <a:ea typeface="微软雅黑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763" y="2846010"/>
            <a:ext cx="6799257" cy="3619975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7189542" y="4038818"/>
            <a:ext cx="4742695" cy="1178808"/>
          </a:xfrm>
          <a:prstGeom prst="roundRect">
            <a:avLst>
              <a:gd name="adj" fmla="val 8717"/>
            </a:avLst>
          </a:prstGeom>
          <a:solidFill>
            <a:sysClr val="window" lastClr="FFFFFF"/>
          </a:solidFill>
          <a:ln w="635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" name="Docer Falling Dust PPT demo 13"/>
          <p:cNvSpPr txBox="1"/>
          <p:nvPr/>
        </p:nvSpPr>
        <p:spPr>
          <a:xfrm>
            <a:off x="7280457" y="4416418"/>
            <a:ext cx="4309745" cy="616281"/>
          </a:xfrm>
          <a:prstGeom prst="rect">
            <a:avLst/>
          </a:prstGeom>
          <a:noFill/>
        </p:spPr>
        <p:txBody>
          <a:bodyPr wrap="square" lIns="94002" tIns="47001" rIns="94002" bIns="4700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有来自 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XCTF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竞赛社区的国内外顶尖选手参与到本次比赛当中，多个赛题出现队伍完成 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AK (All Kill)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rgbClr val="000000">
                  <a:lumMod val="50000"/>
                  <a:lumOff val="50000"/>
                </a:srgbClr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7" name="Docer Falling Dust PPT demo 12"/>
          <p:cNvSpPr txBox="1"/>
          <p:nvPr/>
        </p:nvSpPr>
        <p:spPr>
          <a:xfrm>
            <a:off x="7280457" y="4134485"/>
            <a:ext cx="1728723" cy="402697"/>
          </a:xfrm>
          <a:prstGeom prst="rect">
            <a:avLst/>
          </a:prstGeom>
          <a:solidFill>
            <a:srgbClr val="FFFFFF"/>
          </a:solidFill>
        </p:spPr>
        <p:txBody>
          <a:bodyPr wrap="none" lIns="94002" tIns="47001" rIns="94002" bIns="47001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881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ea"/>
                <a:sym typeface="+mn-lt"/>
              </a:rPr>
              <a:t>参赛选手广泛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703881"/>
              </a:solidFill>
              <a:effectLst/>
              <a:uLnTx/>
              <a:uFillTx/>
              <a:latin typeface="Arial" panose="020B0704020202020204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7189542" y="5313293"/>
            <a:ext cx="4742695" cy="1178808"/>
          </a:xfrm>
          <a:prstGeom prst="roundRect">
            <a:avLst>
              <a:gd name="adj" fmla="val 8717"/>
            </a:avLst>
          </a:prstGeom>
          <a:solidFill>
            <a:sysClr val="window" lastClr="FFFFFF"/>
          </a:solidFill>
          <a:ln w="6350" cap="flat" cmpd="sng" algn="ctr">
            <a:solidFill>
              <a:srgbClr val="E7E6E6">
                <a:lumMod val="75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9" name="Docer Falling Dust PPT demo 13"/>
          <p:cNvSpPr txBox="1"/>
          <p:nvPr/>
        </p:nvSpPr>
        <p:spPr>
          <a:xfrm>
            <a:off x="7280457" y="5690893"/>
            <a:ext cx="4309745" cy="616281"/>
          </a:xfrm>
          <a:prstGeom prst="rect">
            <a:avLst/>
          </a:prstGeom>
          <a:noFill/>
        </p:spPr>
        <p:txBody>
          <a:bodyPr wrap="square" lIns="94002" tIns="47001" rIns="94002" bIns="4700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赛后参赛队伍对题目质量表示肯定，题目质量与趣味性兼备，在 </a:t>
            </a:r>
            <a:r>
              <a:rPr lang="en-US" altLang="zh-CN" sz="1200" dirty="0" err="1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CTFTime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的赛后评分中，获得了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 25/25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满分的评价。</a:t>
            </a:r>
            <a:endParaRPr lang="zh-CN" altLang="en-US" sz="1200" dirty="0">
              <a:solidFill>
                <a:srgbClr val="000000">
                  <a:lumMod val="50000"/>
                  <a:lumOff val="50000"/>
                </a:srgbClr>
              </a:solidFill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10" name="Docer Falling Dust PPT demo 12"/>
          <p:cNvSpPr txBox="1"/>
          <p:nvPr/>
        </p:nvSpPr>
        <p:spPr>
          <a:xfrm>
            <a:off x="7280457" y="5408960"/>
            <a:ext cx="1728723" cy="402697"/>
          </a:xfrm>
          <a:prstGeom prst="rect">
            <a:avLst/>
          </a:prstGeom>
          <a:solidFill>
            <a:srgbClr val="FFFFFF"/>
          </a:solidFill>
        </p:spPr>
        <p:txBody>
          <a:bodyPr wrap="none" lIns="94002" tIns="47001" rIns="94002" bIns="47001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703881"/>
                </a:solidFill>
                <a:effectLst/>
                <a:uLnTx/>
                <a:uFillTx/>
                <a:latin typeface="Arial" panose="020B0704020202020204"/>
                <a:ea typeface="微软雅黑" pitchFamily="34" charset="-122"/>
                <a:cs typeface="+mn-ea"/>
                <a:sym typeface="+mn-lt"/>
              </a:rPr>
              <a:t>赛后好评如潮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703881"/>
              </a:solidFill>
              <a:effectLst/>
              <a:uLnTx/>
              <a:uFillTx/>
              <a:latin typeface="Arial" panose="020B0704020202020204"/>
              <a:ea typeface="微软雅黑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1282483" y="266308"/>
            <a:ext cx="6288901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2024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方正清刻本悦宋简体" panose="02000000000000000000" pitchFamily="2" charset="-122"/>
                <a:cs typeface="Arial" panose="020B0704020202020204" pitchFamily="34" charset="0"/>
              </a:rPr>
              <a:t>“京华杯”信息安全综合能力竞赛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方正清刻本悦宋简体" panose="02000000000000000000" pitchFamily="2" charset="-122"/>
              <a:cs typeface="Arial" panose="020B0704020202020204" pitchFamily="3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1282483" y="800099"/>
            <a:ext cx="10034804" cy="0"/>
          </a:xfrm>
          <a:prstGeom prst="line">
            <a:avLst/>
          </a:prstGeom>
          <a:ln>
            <a:solidFill>
              <a:srgbClr val="6608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形 42" descr="毕业帽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162" y="173829"/>
            <a:ext cx="748371" cy="748371"/>
          </a:xfrm>
          <a:prstGeom prst="rect">
            <a:avLst/>
          </a:prstGeom>
        </p:spPr>
      </p:pic>
      <p:grpSp>
        <p:nvGrpSpPr>
          <p:cNvPr id="65" name="组合 64"/>
          <p:cNvGrpSpPr>
            <a:grpSpLocks noChangeAspect="1"/>
          </p:cNvGrpSpPr>
          <p:nvPr/>
        </p:nvGrpSpPr>
        <p:grpSpPr>
          <a:xfrm>
            <a:off x="10224896" y="212521"/>
            <a:ext cx="1689291" cy="508374"/>
            <a:chOff x="2685028" y="2876682"/>
            <a:chExt cx="5502784" cy="1656004"/>
          </a:xfrm>
        </p:grpSpPr>
        <p:sp>
          <p:nvSpPr>
            <p:cNvPr id="66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sp>
          <p:nvSpPr>
            <p:cNvPr id="67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704020202020204"/>
                <a:ea typeface="微软雅黑 Light" panose="020B0502040204020203" charset="-122"/>
              </a:endParaRPr>
            </a:p>
          </p:txBody>
        </p:sp>
        <p:pic>
          <p:nvPicPr>
            <p:cNvPr id="68" name="图片 67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97" b="38395"/>
          <a:stretch>
            <a:fillRect/>
          </a:stretch>
        </p:blipFill>
        <p:spPr>
          <a:xfrm>
            <a:off x="658813" y="3025139"/>
            <a:ext cx="10874374" cy="3212149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650346" y="3005402"/>
            <a:ext cx="10882841" cy="3231885"/>
          </a:xfrm>
          <a:prstGeom prst="rect">
            <a:avLst/>
          </a:prstGeom>
          <a:solidFill>
            <a:srgbClr val="660874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36" name="TextBox 34"/>
          <p:cNvSpPr txBox="1"/>
          <p:nvPr/>
        </p:nvSpPr>
        <p:spPr>
          <a:xfrm>
            <a:off x="1662208" y="4230296"/>
            <a:ext cx="4790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微软雅黑 Light" panose="020B0502040204020203" charset="-122"/>
                <a:cs typeface="+mn-cs"/>
              </a:rPr>
              <a:t>继续推动清华、北大两校在网络安全技术领域学生培养的交流与合作。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微软雅黑 Light" panose="020B0502040204020203" charset="-122"/>
              <a:cs typeface="+mn-cs"/>
            </a:endParaRPr>
          </a:p>
        </p:txBody>
      </p:sp>
      <p:cxnSp>
        <p:nvCxnSpPr>
          <p:cNvPr id="77" name="直接连接符 76"/>
          <p:cNvCxnSpPr/>
          <p:nvPr/>
        </p:nvCxnSpPr>
        <p:spPr>
          <a:xfrm>
            <a:off x="1093470" y="4947920"/>
            <a:ext cx="10005060" cy="0"/>
          </a:xfrm>
          <a:prstGeom prst="line">
            <a:avLst/>
          </a:prstGeom>
          <a:ln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形 3" descr="教室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5865" y="4120075"/>
            <a:ext cx="583093" cy="583093"/>
          </a:xfrm>
          <a:prstGeom prst="rect">
            <a:avLst/>
          </a:prstGeom>
        </p:spPr>
      </p:pic>
      <p:pic>
        <p:nvPicPr>
          <p:cNvPr id="8" name="图形 7" descr="书架上的书籍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7233" y="4202462"/>
            <a:ext cx="583093" cy="583093"/>
          </a:xfrm>
          <a:prstGeom prst="rect">
            <a:avLst/>
          </a:prstGeom>
        </p:spPr>
      </p:pic>
      <p:pic>
        <p:nvPicPr>
          <p:cNvPr id="11" name="图形 10" descr="打开的书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004" y="5347689"/>
            <a:ext cx="476770" cy="476770"/>
          </a:xfrm>
          <a:prstGeom prst="rect">
            <a:avLst/>
          </a:prstGeom>
        </p:spPr>
      </p:pic>
      <p:sp>
        <p:nvSpPr>
          <p:cNvPr id="87" name="TextBox 34"/>
          <p:cNvSpPr txBox="1"/>
          <p:nvPr/>
        </p:nvSpPr>
        <p:spPr>
          <a:xfrm>
            <a:off x="1662208" y="5330638"/>
            <a:ext cx="4790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微软雅黑 Light" panose="020B0502040204020203" charset="-122"/>
                <a:cs typeface="+mn-cs"/>
              </a:rPr>
              <a:t>以“京华杯”进行统一宣传，进一步扩大赛事影响力，面向全国开放报名参赛。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13" name="图形 12" descr="监狱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5865" y="5347689"/>
            <a:ext cx="550187" cy="550187"/>
          </a:xfrm>
          <a:prstGeom prst="rect">
            <a:avLst/>
          </a:prstGeom>
        </p:spPr>
      </p:pic>
      <p:sp>
        <p:nvSpPr>
          <p:cNvPr id="88" name="TextBox 34"/>
          <p:cNvSpPr txBox="1"/>
          <p:nvPr/>
        </p:nvSpPr>
        <p:spPr>
          <a:xfrm>
            <a:off x="6988957" y="4035646"/>
            <a:ext cx="4328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prstClr val="white"/>
                </a:solidFill>
                <a:latin typeface="Arial" panose="020B0704020202020204"/>
                <a:ea typeface="微软雅黑 Light" panose="020B0502040204020203" charset="-122"/>
              </a:rPr>
              <a:t>与北大 </a:t>
            </a:r>
            <a:r>
              <a:rPr lang="en-US" altLang="zh-CN" sz="1600" dirty="0">
                <a:solidFill>
                  <a:prstClr val="white"/>
                </a:solidFill>
                <a:latin typeface="Arial" panose="020B0704020202020204"/>
                <a:ea typeface="微软雅黑 Light" panose="020B0502040204020203" charset="-122"/>
              </a:rPr>
              <a:t>PKUCC </a:t>
            </a:r>
            <a:r>
              <a:rPr lang="zh-CN" altLang="en-US" sz="1600" dirty="0">
                <a:solidFill>
                  <a:prstClr val="white"/>
                </a:solidFill>
                <a:latin typeface="Arial" panose="020B0704020202020204"/>
                <a:ea typeface="微软雅黑 Light" panose="020B0502040204020203" charset="-122"/>
              </a:rPr>
              <a:t>战队继续联合主办 </a:t>
            </a:r>
            <a:r>
              <a:rPr lang="en-US" altLang="zh-CN" sz="1600" dirty="0">
                <a:solidFill>
                  <a:prstClr val="white"/>
                </a:solidFill>
                <a:latin typeface="Arial" panose="020B0704020202020204"/>
                <a:ea typeface="微软雅黑 Light" panose="020B0502040204020203" charset="-122"/>
              </a:rPr>
              <a:t>TPCTF </a:t>
            </a:r>
            <a:r>
              <a:rPr lang="zh-CN" altLang="en-US" sz="1600" dirty="0">
                <a:solidFill>
                  <a:prstClr val="white"/>
                </a:solidFill>
                <a:latin typeface="Arial" panose="020B0704020202020204"/>
                <a:ea typeface="微软雅黑 Light" panose="020B0502040204020203" charset="-122"/>
              </a:rPr>
              <a:t>线上国际赛，打造面向 </a:t>
            </a:r>
            <a:r>
              <a:rPr lang="en-US" altLang="zh-CN" sz="1600" dirty="0">
                <a:solidFill>
                  <a:prstClr val="white"/>
                </a:solidFill>
                <a:latin typeface="Arial" panose="020B0704020202020204"/>
                <a:ea typeface="微软雅黑 Light" panose="020B0502040204020203" charset="-122"/>
              </a:rPr>
              <a:t>XCTF </a:t>
            </a:r>
            <a:r>
              <a:rPr lang="zh-CN" altLang="en-US" sz="1600" dirty="0">
                <a:solidFill>
                  <a:prstClr val="white"/>
                </a:solidFill>
                <a:latin typeface="Arial" panose="020B0704020202020204"/>
                <a:ea typeface="微软雅黑 Light" panose="020B0502040204020203" charset="-122"/>
              </a:rPr>
              <a:t>竞赛社区的国际及国内队伍开放参赛的高水平赛事。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89" name="TextBox 34"/>
          <p:cNvSpPr txBox="1"/>
          <p:nvPr/>
        </p:nvSpPr>
        <p:spPr>
          <a:xfrm>
            <a:off x="6988958" y="5301041"/>
            <a:ext cx="4328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微软雅黑 Light" panose="020B0502040204020203" charset="-122"/>
                <a:cs typeface="+mn-cs"/>
              </a:rPr>
              <a:t>进一步加强校内宣传，提高校内参赛规模，吸引更多的同学关注网络安全技术。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微软雅黑 Light" panose="020B0502040204020203" charset="-122"/>
              <a:cs typeface="+mn-cs"/>
            </a:endParaRPr>
          </a:p>
        </p:txBody>
      </p:sp>
      <p:pic>
        <p:nvPicPr>
          <p:cNvPr id="6" name="图片 5" descr="文本&#10;&#10;描述已自动生成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26" y="1553883"/>
            <a:ext cx="8248878" cy="23611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advTm="3000">
        <p15:prstTrans prst="peelOff"/>
      </p:transition>
    </mc:Choice>
    <mc:Fallback>
      <p:transition spd="slow" advTm="3000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1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794D5"/>
      </a:accent1>
      <a:accent2>
        <a:srgbClr val="4577BC"/>
      </a:accent2>
      <a:accent3>
        <a:srgbClr val="345AA3"/>
      </a:accent3>
      <a:accent4>
        <a:srgbClr val="233E8A"/>
      </a:accent4>
      <a:accent5>
        <a:srgbClr val="122171"/>
      </a:accent5>
      <a:accent6>
        <a:srgbClr val="010558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1191</Words>
  <Application>WPS 表格</Application>
  <PresentationFormat>宽屏</PresentationFormat>
  <Paragraphs>82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方正清刻本悦宋简体</vt:lpstr>
      <vt:lpstr>汉仪书宋二KW</vt:lpstr>
      <vt:lpstr>Arial</vt:lpstr>
      <vt:lpstr>微软雅黑 Light</vt:lpstr>
      <vt:lpstr>微软雅黑</vt:lpstr>
      <vt:lpstr>方正小标宋简体</vt:lpstr>
      <vt:lpstr>等线</vt:lpstr>
      <vt:lpstr>宋体</vt:lpstr>
      <vt:lpstr>Arial Unicode MS</vt:lpstr>
      <vt:lpstr>等线 Light</vt:lpstr>
      <vt:lpstr>汉仪中等线KW</vt:lpstr>
      <vt:lpstr>汉仪中黑KW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陈张萌(2022210868)</cp:lastModifiedBy>
  <cp:revision>263</cp:revision>
  <dcterms:created xsi:type="dcterms:W3CDTF">2024-09-25T04:15:40Z</dcterms:created>
  <dcterms:modified xsi:type="dcterms:W3CDTF">2024-09-25T04:15:40Z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0168964324674DDAAD42A7B65F300E5A</vt:lpwstr>
  </property>
  <property fmtid="{D5CDD505-2E9C-101B-9397-08002B2CF9AE}" pid="3" name="KSOProductBuildVer">
    <vt:lpwstr>2052-6.7.1.8828</vt:lpwstr>
  </property>
</Properties>
</file>